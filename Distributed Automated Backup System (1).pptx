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3" r:id="rId8"/>
    <p:sldId id="264" r:id="rId9"/>
    <p:sldId id="274" r:id="rId10"/>
    <p:sldId id="261" r:id="rId11"/>
    <p:sldId id="262" r:id="rId12"/>
    <p:sldId id="271" r:id="rId13"/>
    <p:sldId id="272" r:id="rId14"/>
    <p:sldId id="265" r:id="rId15"/>
    <p:sldId id="266" r:id="rId16"/>
    <p:sldId id="273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haroni" panose="02010803020104030203" pitchFamily="2" charset="-79"/>
      <p:bold r:id="rId21"/>
    </p:embeddedFont>
    <p:embeddedFont>
      <p:font typeface="Alegreya Sans" panose="020B0604020202020204" charset="0"/>
      <p:regular r:id="rId22"/>
    </p:embeddedFont>
    <p:embeddedFont>
      <p:font typeface="Amasis MT Pro Black" panose="02040A04050005020304" pitchFamily="18" charset="0"/>
      <p:bold r:id="rId23"/>
      <p:boldItalic r:id="rId24"/>
    </p:embeddedFont>
    <p:embeddedFont>
      <p:font typeface="Norwester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85" autoAdjust="0"/>
    <p:restoredTop sz="94622" autoAdjust="0"/>
  </p:normalViewPr>
  <p:slideViewPr>
    <p:cSldViewPr>
      <p:cViewPr>
        <p:scale>
          <a:sx n="22" d="100"/>
          <a:sy n="22" d="100"/>
        </p:scale>
        <p:origin x="355" y="97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0643118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400000">
            <a:off x="-2364519" y="57339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8" y="0"/>
                </a:lnTo>
                <a:lnTo>
                  <a:pt x="4729038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5923481" y="-24956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8" y="0"/>
                </a:lnTo>
                <a:lnTo>
                  <a:pt x="4729038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5400000">
            <a:off x="-3729024" y="16191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8" y="0"/>
                </a:lnTo>
                <a:lnTo>
                  <a:pt x="4729038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Freeform 12"/>
          <p:cNvSpPr/>
          <p:nvPr/>
        </p:nvSpPr>
        <p:spPr>
          <a:xfrm rot="-5400000">
            <a:off x="17286547" y="16191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3524350" y="2931381"/>
            <a:ext cx="11438502" cy="219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1"/>
              </a:lnSpc>
            </a:pPr>
            <a:r>
              <a:rPr lang="en-US" sz="8411" dirty="0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DISTRIBUTED AUTOMATED BACKUP SYSTEM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755079" y="6132042"/>
            <a:ext cx="6779282" cy="1181779"/>
            <a:chOff x="0" y="0"/>
            <a:chExt cx="1785490" cy="3112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07479" y="6326239"/>
            <a:ext cx="6779282" cy="1181779"/>
            <a:chOff x="0" y="0"/>
            <a:chExt cx="1785490" cy="31125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429330" y="6416766"/>
            <a:ext cx="5735579" cy="763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62"/>
              </a:lnSpc>
              <a:spcBef>
                <a:spcPct val="0"/>
              </a:spcBef>
            </a:pPr>
            <a:r>
              <a:rPr lang="en-US" sz="4044" dirty="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Presented by </a:t>
            </a:r>
            <a:r>
              <a:rPr lang="en-US" sz="4044" dirty="0" err="1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Sara&amp;Berlanti</a:t>
            </a:r>
            <a:endParaRPr lang="en-US" sz="4044" dirty="0">
              <a:solidFill>
                <a:srgbClr val="000000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850813" y="1375337"/>
            <a:ext cx="4586373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  An Najah  University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191384" y="8290955"/>
            <a:ext cx="5905232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Course: Computer Networks Project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6341594" y="1534701"/>
            <a:ext cx="5481584" cy="955562"/>
            <a:chOff x="0" y="0"/>
            <a:chExt cx="1785490" cy="3112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64822" y="1691724"/>
            <a:ext cx="5481584" cy="955562"/>
            <a:chOff x="0" y="0"/>
            <a:chExt cx="1785490" cy="3112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321887" y="3025764"/>
            <a:ext cx="11644227" cy="2557638"/>
            <a:chOff x="0" y="0"/>
            <a:chExt cx="1803995" cy="39624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03996" cy="396245"/>
            </a:xfrm>
            <a:custGeom>
              <a:avLst/>
              <a:gdLst/>
              <a:ahLst/>
              <a:cxnLst/>
              <a:rect l="l" t="t" r="r" b="b"/>
              <a:pathLst>
                <a:path w="1803996" h="396245">
                  <a:moveTo>
                    <a:pt x="0" y="0"/>
                  </a:moveTo>
                  <a:lnTo>
                    <a:pt x="1803996" y="0"/>
                  </a:lnTo>
                  <a:lnTo>
                    <a:pt x="1803996" y="396245"/>
                  </a:lnTo>
                  <a:lnTo>
                    <a:pt x="0" y="396245"/>
                  </a:lnTo>
                  <a:close/>
                </a:path>
              </a:pathLst>
            </a:custGeom>
            <a:blipFill>
              <a:blip r:embed="rId4"/>
              <a:stretch>
                <a:fillRect t="-78045" b="-780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296461" y="5831052"/>
            <a:ext cx="11695077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This project presents a distributed system for automated data backup across multiple nodes without relying on a central server.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It focuses on automation, security, and decentralization.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20" name="Freeform 20"/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 rot="-5400000" flipH="1">
            <a:off x="-2773441" y="211857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7052555" y="1803903"/>
            <a:ext cx="4182889" cy="655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835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ABSTRACT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252217"/>
            <a:ext cx="4586373" cy="4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 An Najah University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6341594" y="1534701"/>
            <a:ext cx="5481584" cy="955562"/>
            <a:chOff x="0" y="0"/>
            <a:chExt cx="1785490" cy="3112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449884" y="3678455"/>
            <a:ext cx="3626688" cy="763977"/>
            <a:chOff x="0" y="0"/>
            <a:chExt cx="1099154" cy="23154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9154" cy="231541"/>
            </a:xfrm>
            <a:custGeom>
              <a:avLst/>
              <a:gdLst/>
              <a:ahLst/>
              <a:cxnLst/>
              <a:rect l="l" t="t" r="r" b="b"/>
              <a:pathLst>
                <a:path w="1099154" h="231541">
                  <a:moveTo>
                    <a:pt x="0" y="0"/>
                  </a:moveTo>
                  <a:lnTo>
                    <a:pt x="1099154" y="0"/>
                  </a:lnTo>
                  <a:lnTo>
                    <a:pt x="1099154" y="231541"/>
                  </a:lnTo>
                  <a:lnTo>
                    <a:pt x="0" y="23154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04775"/>
              <a:ext cx="1099154" cy="336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Alegreya Sans"/>
                  <a:ea typeface="Alegreya Sans"/>
                  <a:cs typeface="Alegreya Sans"/>
                  <a:sym typeface="Alegreya Sans"/>
                </a:rPr>
                <a:t>Introduction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46112" y="4672528"/>
            <a:ext cx="3626688" cy="763977"/>
            <a:chOff x="0" y="0"/>
            <a:chExt cx="1099154" cy="23154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9154" cy="231541"/>
            </a:xfrm>
            <a:custGeom>
              <a:avLst/>
              <a:gdLst/>
              <a:ahLst/>
              <a:cxnLst/>
              <a:rect l="l" t="t" r="r" b="b"/>
              <a:pathLst>
                <a:path w="1099154" h="231541">
                  <a:moveTo>
                    <a:pt x="0" y="0"/>
                  </a:moveTo>
                  <a:lnTo>
                    <a:pt x="1099154" y="0"/>
                  </a:lnTo>
                  <a:lnTo>
                    <a:pt x="1099154" y="231541"/>
                  </a:lnTo>
                  <a:lnTo>
                    <a:pt x="0" y="231541"/>
                  </a:lnTo>
                  <a:close/>
                </a:path>
              </a:pathLst>
            </a:custGeom>
            <a:solidFill>
              <a:srgbClr val="F4EDF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+mj-lt"/>
                </a:rPr>
                <a:t>System Architecture</a:t>
              </a:r>
              <a:endParaRPr lang="en-US" sz="2800" dirty="0">
                <a:solidFill>
                  <a:srgbClr val="000000"/>
                </a:solidFill>
                <a:latin typeface="+mj-lt"/>
                <a:ea typeface="Norwester"/>
                <a:cs typeface="Norwester"/>
                <a:sym typeface="Norwester"/>
              </a:endParaRPr>
            </a:p>
            <a:p>
              <a:pPr algn="ctr"/>
              <a:endParaRPr lang="en-US" sz="2800" dirty="0">
                <a:latin typeface="+mj-lt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04775"/>
              <a:ext cx="1099154" cy="336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79"/>
                </a:lnSpc>
                <a:spcBef>
                  <a:spcPct val="0"/>
                </a:spcBef>
              </a:pPr>
              <a:endParaRPr lang="en-US" sz="2699" dirty="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449884" y="5663850"/>
            <a:ext cx="3626688" cy="763977"/>
            <a:chOff x="0" y="0"/>
            <a:chExt cx="1099154" cy="23154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99154" cy="231541"/>
            </a:xfrm>
            <a:custGeom>
              <a:avLst/>
              <a:gdLst/>
              <a:ahLst/>
              <a:cxnLst/>
              <a:rect l="l" t="t" r="r" b="b"/>
              <a:pathLst>
                <a:path w="1099154" h="231541">
                  <a:moveTo>
                    <a:pt x="0" y="0"/>
                  </a:moveTo>
                  <a:lnTo>
                    <a:pt x="1099154" y="0"/>
                  </a:lnTo>
                  <a:lnTo>
                    <a:pt x="1099154" y="231541"/>
                  </a:lnTo>
                  <a:lnTo>
                    <a:pt x="0" y="23154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04775"/>
              <a:ext cx="1099154" cy="336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6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+mj-lt"/>
                  <a:ea typeface="Norwester"/>
                  <a:cs typeface="Norwester"/>
                  <a:sym typeface="Norwester"/>
                </a:rPr>
                <a:t>Technologies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346112" y="6655173"/>
            <a:ext cx="3626688" cy="763977"/>
            <a:chOff x="0" y="0"/>
            <a:chExt cx="1099154" cy="23154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99154" cy="231541"/>
            </a:xfrm>
            <a:custGeom>
              <a:avLst/>
              <a:gdLst/>
              <a:ahLst/>
              <a:cxnLst/>
              <a:rect l="l" t="t" r="r" b="b"/>
              <a:pathLst>
                <a:path w="1099154" h="231541">
                  <a:moveTo>
                    <a:pt x="0" y="0"/>
                  </a:moveTo>
                  <a:lnTo>
                    <a:pt x="1099154" y="0"/>
                  </a:lnTo>
                  <a:lnTo>
                    <a:pt x="1099154" y="231541"/>
                  </a:lnTo>
                  <a:lnTo>
                    <a:pt x="0" y="231541"/>
                  </a:lnTo>
                  <a:close/>
                </a:path>
              </a:pathLst>
            </a:custGeom>
            <a:solidFill>
              <a:srgbClr val="F4EDF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04775"/>
              <a:ext cx="1099154" cy="336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800" dirty="0"/>
                <a:t>Recommendation</a:t>
              </a:r>
              <a:endParaRPr lang="en-US" sz="4000" dirty="0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328817" y="3678455"/>
            <a:ext cx="3626688" cy="763977"/>
            <a:chOff x="0" y="0"/>
            <a:chExt cx="1099154" cy="23154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99154" cy="231541"/>
            </a:xfrm>
            <a:custGeom>
              <a:avLst/>
              <a:gdLst/>
              <a:ahLst/>
              <a:cxnLst/>
              <a:rect l="l" t="t" r="r" b="b"/>
              <a:pathLst>
                <a:path w="1099154" h="231541">
                  <a:moveTo>
                    <a:pt x="0" y="0"/>
                  </a:moveTo>
                  <a:lnTo>
                    <a:pt x="1099154" y="0"/>
                  </a:lnTo>
                  <a:lnTo>
                    <a:pt x="1099154" y="231541"/>
                  </a:lnTo>
                  <a:lnTo>
                    <a:pt x="0" y="231541"/>
                  </a:lnTo>
                  <a:close/>
                </a:path>
              </a:pathLst>
            </a:custGeom>
            <a:solidFill>
              <a:srgbClr val="F4ED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04775"/>
              <a:ext cx="1099154" cy="336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Alegreya Sans"/>
                  <a:ea typeface="Alegreya Sans"/>
                  <a:cs typeface="Alegreya Sans"/>
                  <a:sym typeface="Alegreya Sans"/>
                </a:rPr>
                <a:t>Problems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049000" y="4672528"/>
            <a:ext cx="3626688" cy="763977"/>
            <a:chOff x="0" y="0"/>
            <a:chExt cx="1099154" cy="23154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99154" cy="231541"/>
            </a:xfrm>
            <a:custGeom>
              <a:avLst/>
              <a:gdLst/>
              <a:ahLst/>
              <a:cxnLst/>
              <a:rect l="l" t="t" r="r" b="b"/>
              <a:pathLst>
                <a:path w="1099154" h="231541">
                  <a:moveTo>
                    <a:pt x="0" y="0"/>
                  </a:moveTo>
                  <a:lnTo>
                    <a:pt x="1099154" y="0"/>
                  </a:lnTo>
                  <a:lnTo>
                    <a:pt x="1099154" y="231541"/>
                  </a:lnTo>
                  <a:lnTo>
                    <a:pt x="0" y="23154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04775"/>
              <a:ext cx="1099154" cy="336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700" dirty="0">
                  <a:solidFill>
                    <a:srgbClr val="000000"/>
                  </a:solidFill>
                  <a:latin typeface="Alegreya Sans"/>
                  <a:ea typeface="Alegreya Sans"/>
                  <a:cs typeface="Alegreya Sans"/>
                  <a:sym typeface="Alegreya Sans"/>
                </a:rPr>
                <a:t>Core Concepts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328817" y="5663850"/>
            <a:ext cx="3626688" cy="763977"/>
            <a:chOff x="0" y="0"/>
            <a:chExt cx="1099154" cy="23154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9154" cy="231541"/>
            </a:xfrm>
            <a:custGeom>
              <a:avLst/>
              <a:gdLst/>
              <a:ahLst/>
              <a:cxnLst/>
              <a:rect l="l" t="t" r="r" b="b"/>
              <a:pathLst>
                <a:path w="1099154" h="231541">
                  <a:moveTo>
                    <a:pt x="0" y="0"/>
                  </a:moveTo>
                  <a:lnTo>
                    <a:pt x="1099154" y="0"/>
                  </a:lnTo>
                  <a:lnTo>
                    <a:pt x="1099154" y="231541"/>
                  </a:lnTo>
                  <a:lnTo>
                    <a:pt x="0" y="231541"/>
                  </a:lnTo>
                  <a:close/>
                </a:path>
              </a:pathLst>
            </a:custGeom>
            <a:solidFill>
              <a:srgbClr val="F4EDF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104775"/>
              <a:ext cx="1099154" cy="336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800" dirty="0"/>
                <a:t>How the System Works</a:t>
              </a:r>
              <a:endParaRPr lang="en-US" sz="4000" dirty="0">
                <a:effectLst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070236" y="5624002"/>
            <a:ext cx="3626688" cy="763977"/>
            <a:chOff x="0" y="0"/>
            <a:chExt cx="1099154" cy="23154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99154" cy="231541"/>
            </a:xfrm>
            <a:custGeom>
              <a:avLst/>
              <a:gdLst/>
              <a:ahLst/>
              <a:cxnLst/>
              <a:rect l="l" t="t" r="r" b="b"/>
              <a:pathLst>
                <a:path w="1099154" h="231541">
                  <a:moveTo>
                    <a:pt x="0" y="0"/>
                  </a:moveTo>
                  <a:lnTo>
                    <a:pt x="1099154" y="0"/>
                  </a:lnTo>
                  <a:lnTo>
                    <a:pt x="1099154" y="231541"/>
                  </a:lnTo>
                  <a:lnTo>
                    <a:pt x="0" y="23154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04775"/>
              <a:ext cx="1099154" cy="336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800" dirty="0"/>
                <a:t>Security</a:t>
              </a:r>
              <a:endParaRPr lang="en-US" sz="4000" dirty="0">
                <a:effectLst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429000" y="4684323"/>
            <a:ext cx="3626688" cy="763977"/>
            <a:chOff x="0" y="0"/>
            <a:chExt cx="1099154" cy="23154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99154" cy="231541"/>
            </a:xfrm>
            <a:custGeom>
              <a:avLst/>
              <a:gdLst/>
              <a:ahLst/>
              <a:cxnLst/>
              <a:rect l="l" t="t" r="r" b="b"/>
              <a:pathLst>
                <a:path w="1099154" h="231541">
                  <a:moveTo>
                    <a:pt x="0" y="0"/>
                  </a:moveTo>
                  <a:lnTo>
                    <a:pt x="1099154" y="0"/>
                  </a:lnTo>
                  <a:lnTo>
                    <a:pt x="1099154" y="231541"/>
                  </a:lnTo>
                  <a:lnTo>
                    <a:pt x="0" y="23154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pPr algn="ctr"/>
              <a:r>
                <a:rPr lang="en-US" sz="2800" dirty="0"/>
                <a:t>Objectives</a:t>
              </a:r>
            </a:p>
            <a:p>
              <a:pPr algn="ctr"/>
              <a:endParaRPr lang="en-US" sz="2800" dirty="0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04775"/>
              <a:ext cx="1099154" cy="336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endParaRPr lang="en-US" sz="2700" dirty="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049000" y="3695700"/>
            <a:ext cx="3626688" cy="763977"/>
            <a:chOff x="0" y="0"/>
            <a:chExt cx="1099154" cy="23154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99154" cy="231541"/>
            </a:xfrm>
            <a:custGeom>
              <a:avLst/>
              <a:gdLst/>
              <a:ahLst/>
              <a:cxnLst/>
              <a:rect l="l" t="t" r="r" b="b"/>
              <a:pathLst>
                <a:path w="1099154" h="231541">
                  <a:moveTo>
                    <a:pt x="0" y="0"/>
                  </a:moveTo>
                  <a:lnTo>
                    <a:pt x="1099154" y="0"/>
                  </a:lnTo>
                  <a:lnTo>
                    <a:pt x="1099154" y="231541"/>
                  </a:lnTo>
                  <a:lnTo>
                    <a:pt x="0" y="23154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04775"/>
              <a:ext cx="1099154" cy="336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800" dirty="0"/>
                <a:t>Proposed Solution</a:t>
              </a:r>
              <a:endParaRPr lang="en-US" sz="2700" dirty="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464822" y="1691724"/>
            <a:ext cx="5481584" cy="955562"/>
            <a:chOff x="0" y="0"/>
            <a:chExt cx="1785490" cy="31125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7052555" y="1803903"/>
            <a:ext cx="4182889" cy="655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835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OVERVIEW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28700" y="252217"/>
            <a:ext cx="4586373" cy="4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 An Najah University</a:t>
            </a:r>
          </a:p>
        </p:txBody>
      </p:sp>
      <p:sp>
        <p:nvSpPr>
          <p:cNvPr id="53" name="Freeform 53"/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4" name="Freeform 54"/>
          <p:cNvSpPr/>
          <p:nvPr/>
        </p:nvSpPr>
        <p:spPr>
          <a:xfrm rot="-54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0" name="Group 35">
            <a:extLst>
              <a:ext uri="{FF2B5EF4-FFF2-40B4-BE49-F238E27FC236}">
                <a16:creationId xmlns:a16="http://schemas.microsoft.com/office/drawing/2014/main" id="{BF5A6754-D53B-5B0A-BDD5-86C3880553D7}"/>
              </a:ext>
            </a:extLst>
          </p:cNvPr>
          <p:cNvGrpSpPr/>
          <p:nvPr/>
        </p:nvGrpSpPr>
        <p:grpSpPr>
          <a:xfrm>
            <a:off x="3383712" y="6679657"/>
            <a:ext cx="3626688" cy="763977"/>
            <a:chOff x="0" y="0"/>
            <a:chExt cx="1099154" cy="231541"/>
          </a:xfrm>
        </p:grpSpPr>
        <p:sp>
          <p:nvSpPr>
            <p:cNvPr id="61" name="Freeform 36">
              <a:extLst>
                <a:ext uri="{FF2B5EF4-FFF2-40B4-BE49-F238E27FC236}">
                  <a16:creationId xmlns:a16="http://schemas.microsoft.com/office/drawing/2014/main" id="{3FB5803C-DA95-C761-7E45-3857DC9BCD4E}"/>
                </a:ext>
              </a:extLst>
            </p:cNvPr>
            <p:cNvSpPr/>
            <p:nvPr/>
          </p:nvSpPr>
          <p:spPr>
            <a:xfrm>
              <a:off x="0" y="0"/>
              <a:ext cx="1099154" cy="231541"/>
            </a:xfrm>
            <a:custGeom>
              <a:avLst/>
              <a:gdLst/>
              <a:ahLst/>
              <a:cxnLst/>
              <a:rect l="l" t="t" r="r" b="b"/>
              <a:pathLst>
                <a:path w="1099154" h="231541">
                  <a:moveTo>
                    <a:pt x="0" y="0"/>
                  </a:moveTo>
                  <a:lnTo>
                    <a:pt x="1099154" y="0"/>
                  </a:lnTo>
                  <a:lnTo>
                    <a:pt x="1099154" y="231541"/>
                  </a:lnTo>
                  <a:lnTo>
                    <a:pt x="0" y="23154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pPr algn="ctr"/>
              <a:r>
                <a:rPr lang="en-US" sz="2800" dirty="0">
                  <a:solidFill>
                    <a:srgbClr val="000000"/>
                  </a:solidFill>
                  <a:latin typeface="Alegreya Sans"/>
                  <a:ea typeface="Alegreya Sans"/>
                  <a:cs typeface="Alegreya Sans"/>
                  <a:sym typeface="Alegreya Sans"/>
                </a:rPr>
                <a:t>Conclusion</a:t>
              </a:r>
            </a:p>
            <a:p>
              <a:pPr algn="ctr"/>
              <a:endParaRPr lang="en-US" sz="2800" dirty="0"/>
            </a:p>
          </p:txBody>
        </p:sp>
        <p:sp>
          <p:nvSpPr>
            <p:cNvPr id="62" name="TextBox 37">
              <a:extLst>
                <a:ext uri="{FF2B5EF4-FFF2-40B4-BE49-F238E27FC236}">
                  <a16:creationId xmlns:a16="http://schemas.microsoft.com/office/drawing/2014/main" id="{C5FC8525-7721-0F41-9D3B-5D3BB5F13C99}"/>
                </a:ext>
              </a:extLst>
            </p:cNvPr>
            <p:cNvSpPr txBox="1"/>
            <p:nvPr/>
          </p:nvSpPr>
          <p:spPr>
            <a:xfrm>
              <a:off x="0" y="-104775"/>
              <a:ext cx="1099154" cy="336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endParaRPr lang="en-US" sz="40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6341594" y="1534701"/>
            <a:ext cx="5481584" cy="955562"/>
            <a:chOff x="0" y="0"/>
            <a:chExt cx="1785490" cy="3112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64822" y="1691724"/>
            <a:ext cx="5481584" cy="955562"/>
            <a:chOff x="0" y="0"/>
            <a:chExt cx="1785490" cy="3112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rot="-54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3321887" y="3025764"/>
            <a:ext cx="3751352" cy="5246370"/>
            <a:chOff x="0" y="0"/>
            <a:chExt cx="581183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81183" cy="812800"/>
            </a:xfrm>
            <a:custGeom>
              <a:avLst/>
              <a:gdLst/>
              <a:ahLst/>
              <a:cxnLst/>
              <a:rect l="l" t="t" r="r" b="b"/>
              <a:pathLst>
                <a:path w="581183" h="812800">
                  <a:moveTo>
                    <a:pt x="0" y="0"/>
                  </a:moveTo>
                  <a:lnTo>
                    <a:pt x="581183" y="0"/>
                  </a:lnTo>
                  <a:lnTo>
                    <a:pt x="58118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54758" r="-5475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356775" y="3238426"/>
            <a:ext cx="7950790" cy="485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This project addresses the need for reliable data backup in distributed environments.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It uses a multi-node system where each node works independently while contributing to a shared backup strategy.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The system focuses on automation, security, and scalability to ensure continuous data protection with minimal human intervention.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052555" y="1803903"/>
            <a:ext cx="4182889" cy="655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835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INTRODUCTION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252217"/>
            <a:ext cx="4586373" cy="4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 An Najah University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6341594" y="1534701"/>
            <a:ext cx="5481584" cy="955562"/>
            <a:chOff x="0" y="0"/>
            <a:chExt cx="1785490" cy="3112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883473" y="3371776"/>
            <a:ext cx="4014749" cy="4818550"/>
            <a:chOff x="0" y="0"/>
            <a:chExt cx="1307705" cy="156952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07705" cy="1569523"/>
            </a:xfrm>
            <a:custGeom>
              <a:avLst/>
              <a:gdLst/>
              <a:ahLst/>
              <a:cxnLst/>
              <a:rect l="l" t="t" r="r" b="b"/>
              <a:pathLst>
                <a:path w="1307705" h="1569523">
                  <a:moveTo>
                    <a:pt x="57851" y="0"/>
                  </a:moveTo>
                  <a:lnTo>
                    <a:pt x="1249854" y="0"/>
                  </a:lnTo>
                  <a:cubicBezTo>
                    <a:pt x="1265197" y="0"/>
                    <a:pt x="1279912" y="6095"/>
                    <a:pt x="1290761" y="16944"/>
                  </a:cubicBezTo>
                  <a:cubicBezTo>
                    <a:pt x="1301610" y="27793"/>
                    <a:pt x="1307705" y="42508"/>
                    <a:pt x="1307705" y="57851"/>
                  </a:cubicBezTo>
                  <a:lnTo>
                    <a:pt x="1307705" y="1511672"/>
                  </a:lnTo>
                  <a:cubicBezTo>
                    <a:pt x="1307705" y="1527015"/>
                    <a:pt x="1301610" y="1541730"/>
                    <a:pt x="1290761" y="1552579"/>
                  </a:cubicBezTo>
                  <a:cubicBezTo>
                    <a:pt x="1279912" y="1563428"/>
                    <a:pt x="1265197" y="1569523"/>
                    <a:pt x="1249854" y="1569523"/>
                  </a:cubicBezTo>
                  <a:lnTo>
                    <a:pt x="57851" y="1569523"/>
                  </a:lnTo>
                  <a:cubicBezTo>
                    <a:pt x="42508" y="1569523"/>
                    <a:pt x="27793" y="1563428"/>
                    <a:pt x="16944" y="1552579"/>
                  </a:cubicBezTo>
                  <a:cubicBezTo>
                    <a:pt x="6095" y="1541730"/>
                    <a:pt x="0" y="1527015"/>
                    <a:pt x="0" y="1511672"/>
                  </a:cubicBezTo>
                  <a:lnTo>
                    <a:pt x="0" y="57851"/>
                  </a:lnTo>
                  <a:cubicBezTo>
                    <a:pt x="0" y="42508"/>
                    <a:pt x="6095" y="27793"/>
                    <a:pt x="16944" y="16944"/>
                  </a:cubicBezTo>
                  <a:cubicBezTo>
                    <a:pt x="27793" y="6095"/>
                    <a:pt x="42508" y="0"/>
                    <a:pt x="57851" y="0"/>
                  </a:cubicBezTo>
                  <a:close/>
                </a:path>
              </a:pathLst>
            </a:custGeom>
            <a:solidFill>
              <a:srgbClr val="F4ED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307705" cy="1645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136903" y="3371776"/>
            <a:ext cx="4014749" cy="4818550"/>
            <a:chOff x="0" y="0"/>
            <a:chExt cx="1307705" cy="15695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07705" cy="1569523"/>
            </a:xfrm>
            <a:custGeom>
              <a:avLst/>
              <a:gdLst/>
              <a:ahLst/>
              <a:cxnLst/>
              <a:rect l="l" t="t" r="r" b="b"/>
              <a:pathLst>
                <a:path w="1307705" h="1569523">
                  <a:moveTo>
                    <a:pt x="57851" y="0"/>
                  </a:moveTo>
                  <a:lnTo>
                    <a:pt x="1249854" y="0"/>
                  </a:lnTo>
                  <a:cubicBezTo>
                    <a:pt x="1265197" y="0"/>
                    <a:pt x="1279912" y="6095"/>
                    <a:pt x="1290761" y="16944"/>
                  </a:cubicBezTo>
                  <a:cubicBezTo>
                    <a:pt x="1301610" y="27793"/>
                    <a:pt x="1307705" y="42508"/>
                    <a:pt x="1307705" y="57851"/>
                  </a:cubicBezTo>
                  <a:lnTo>
                    <a:pt x="1307705" y="1511672"/>
                  </a:lnTo>
                  <a:cubicBezTo>
                    <a:pt x="1307705" y="1527015"/>
                    <a:pt x="1301610" y="1541730"/>
                    <a:pt x="1290761" y="1552579"/>
                  </a:cubicBezTo>
                  <a:cubicBezTo>
                    <a:pt x="1279912" y="1563428"/>
                    <a:pt x="1265197" y="1569523"/>
                    <a:pt x="1249854" y="1569523"/>
                  </a:cubicBezTo>
                  <a:lnTo>
                    <a:pt x="57851" y="1569523"/>
                  </a:lnTo>
                  <a:cubicBezTo>
                    <a:pt x="42508" y="1569523"/>
                    <a:pt x="27793" y="1563428"/>
                    <a:pt x="16944" y="1552579"/>
                  </a:cubicBezTo>
                  <a:cubicBezTo>
                    <a:pt x="6095" y="1541730"/>
                    <a:pt x="0" y="1527015"/>
                    <a:pt x="0" y="1511672"/>
                  </a:cubicBezTo>
                  <a:lnTo>
                    <a:pt x="0" y="57851"/>
                  </a:lnTo>
                  <a:cubicBezTo>
                    <a:pt x="0" y="42508"/>
                    <a:pt x="6095" y="27793"/>
                    <a:pt x="16944" y="16944"/>
                  </a:cubicBezTo>
                  <a:cubicBezTo>
                    <a:pt x="27793" y="6095"/>
                    <a:pt x="42508" y="0"/>
                    <a:pt x="57851" y="0"/>
                  </a:cubicBezTo>
                  <a:close/>
                </a:path>
              </a:pathLst>
            </a:custGeom>
            <a:solidFill>
              <a:srgbClr val="F4EDFB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1307705" cy="1645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389777" y="3371776"/>
            <a:ext cx="4014749" cy="4818550"/>
            <a:chOff x="0" y="0"/>
            <a:chExt cx="1307705" cy="15695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07705" cy="1569523"/>
            </a:xfrm>
            <a:custGeom>
              <a:avLst/>
              <a:gdLst/>
              <a:ahLst/>
              <a:cxnLst/>
              <a:rect l="l" t="t" r="r" b="b"/>
              <a:pathLst>
                <a:path w="1307705" h="1569523">
                  <a:moveTo>
                    <a:pt x="57851" y="0"/>
                  </a:moveTo>
                  <a:lnTo>
                    <a:pt x="1249854" y="0"/>
                  </a:lnTo>
                  <a:cubicBezTo>
                    <a:pt x="1265197" y="0"/>
                    <a:pt x="1279912" y="6095"/>
                    <a:pt x="1290761" y="16944"/>
                  </a:cubicBezTo>
                  <a:cubicBezTo>
                    <a:pt x="1301610" y="27793"/>
                    <a:pt x="1307705" y="42508"/>
                    <a:pt x="1307705" y="57851"/>
                  </a:cubicBezTo>
                  <a:lnTo>
                    <a:pt x="1307705" y="1511672"/>
                  </a:lnTo>
                  <a:cubicBezTo>
                    <a:pt x="1307705" y="1527015"/>
                    <a:pt x="1301610" y="1541730"/>
                    <a:pt x="1290761" y="1552579"/>
                  </a:cubicBezTo>
                  <a:cubicBezTo>
                    <a:pt x="1279912" y="1563428"/>
                    <a:pt x="1265197" y="1569523"/>
                    <a:pt x="1249854" y="1569523"/>
                  </a:cubicBezTo>
                  <a:lnTo>
                    <a:pt x="57851" y="1569523"/>
                  </a:lnTo>
                  <a:cubicBezTo>
                    <a:pt x="42508" y="1569523"/>
                    <a:pt x="27793" y="1563428"/>
                    <a:pt x="16944" y="1552579"/>
                  </a:cubicBezTo>
                  <a:cubicBezTo>
                    <a:pt x="6095" y="1541730"/>
                    <a:pt x="0" y="1527015"/>
                    <a:pt x="0" y="1511672"/>
                  </a:cubicBezTo>
                  <a:lnTo>
                    <a:pt x="0" y="57851"/>
                  </a:lnTo>
                  <a:cubicBezTo>
                    <a:pt x="0" y="42508"/>
                    <a:pt x="6095" y="27793"/>
                    <a:pt x="16944" y="16944"/>
                  </a:cubicBezTo>
                  <a:cubicBezTo>
                    <a:pt x="27793" y="6095"/>
                    <a:pt x="42508" y="0"/>
                    <a:pt x="57851" y="0"/>
                  </a:cubicBezTo>
                  <a:close/>
                </a:path>
              </a:pathLst>
            </a:custGeom>
            <a:solidFill>
              <a:srgbClr val="F4EDFB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1307705" cy="1645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4822" y="1691724"/>
            <a:ext cx="5481584" cy="955562"/>
            <a:chOff x="0" y="0"/>
            <a:chExt cx="1785490" cy="31125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399870" y="2880799"/>
            <a:ext cx="981956" cy="981956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01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653300" y="2880799"/>
            <a:ext cx="981956" cy="981956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02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906174" y="2880799"/>
            <a:ext cx="981956" cy="981956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03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7052555" y="1803903"/>
            <a:ext cx="4182889" cy="655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835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PROBLEMS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8700" y="252217"/>
            <a:ext cx="4586373" cy="4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 An Najah University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118656" y="4018620"/>
            <a:ext cx="3544383" cy="257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Single Point of Failure</a:t>
            </a:r>
          </a:p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Traditional backup systems rely on a single server, so if it fails, all backup data can be lost.</a:t>
            </a:r>
          </a:p>
          <a:p>
            <a:pPr algn="ctr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7372086" y="4018620"/>
            <a:ext cx="3544383" cy="340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Lack of Automation</a:t>
            </a:r>
          </a:p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Many backup systems require manual execution, which increases human effort and the risk of forgetting or delaying backups.</a:t>
            </a:r>
          </a:p>
          <a:p>
            <a:pPr algn="ctr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1624960" y="4018620"/>
            <a:ext cx="3544383" cy="2990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Limited Scalability</a:t>
            </a:r>
          </a:p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Centralized systems become difficult to manage as the amount of data and number of devices increases.</a:t>
            </a:r>
          </a:p>
          <a:p>
            <a:pPr algn="ctr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40" name="Freeform 40"/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 rot="-54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6341594" y="1534701"/>
            <a:ext cx="5481584" cy="955562"/>
            <a:chOff x="0" y="0"/>
            <a:chExt cx="1785490" cy="3112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64822" y="1691724"/>
            <a:ext cx="5481584" cy="955562"/>
            <a:chOff x="0" y="0"/>
            <a:chExt cx="1785490" cy="3112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553200" y="1803903"/>
            <a:ext cx="5139444" cy="654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4000" dirty="0">
                <a:latin typeface="Amasis MT Pro Black" panose="020F0502020204030204" pitchFamily="18" charset="0"/>
              </a:rPr>
              <a:t>Proposed Solution</a:t>
            </a:r>
            <a:endParaRPr lang="en-US" sz="3835" dirty="0">
              <a:solidFill>
                <a:srgbClr val="000000"/>
              </a:solidFill>
              <a:latin typeface="Amasis MT Pro Black" panose="020F0502020204030204" pitchFamily="18" charset="0"/>
              <a:ea typeface="Norwester"/>
              <a:cs typeface="Norwester"/>
              <a:sym typeface="Norweste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28700" y="252217"/>
            <a:ext cx="4586373" cy="400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 An Najah University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98147" y="2956620"/>
            <a:ext cx="12891705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/>
              <a:t>We designed an automated distributed backup system where:</a:t>
            </a:r>
            <a:endParaRPr lang="ar-SA" sz="3200" dirty="0"/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Each node works independently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Backups are executed automatically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Data is synchronized securely between nodes </a:t>
            </a:r>
          </a:p>
        </p:txBody>
      </p:sp>
      <p:sp>
        <p:nvSpPr>
          <p:cNvPr id="21" name="Freeform 21"/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 rot="-54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6341594" y="1534701"/>
            <a:ext cx="5481584" cy="955562"/>
            <a:chOff x="0" y="0"/>
            <a:chExt cx="1785490" cy="3112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64822" y="1691724"/>
            <a:ext cx="5481584" cy="955562"/>
            <a:chOff x="0" y="0"/>
            <a:chExt cx="1785490" cy="3112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052555" y="1803903"/>
            <a:ext cx="4182889" cy="655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835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OBJECTIVES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252217"/>
            <a:ext cx="4586373" cy="4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 An Najah University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3699963" y="3057877"/>
            <a:ext cx="11695077" cy="1504426"/>
            <a:chOff x="0" y="0"/>
            <a:chExt cx="3809381" cy="4900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809381" cy="490029"/>
            </a:xfrm>
            <a:custGeom>
              <a:avLst/>
              <a:gdLst/>
              <a:ahLst/>
              <a:cxnLst/>
              <a:rect l="l" t="t" r="r" b="b"/>
              <a:pathLst>
                <a:path w="3809381" h="490029">
                  <a:moveTo>
                    <a:pt x="19859" y="0"/>
                  </a:moveTo>
                  <a:lnTo>
                    <a:pt x="3789522" y="0"/>
                  </a:lnTo>
                  <a:cubicBezTo>
                    <a:pt x="3794789" y="0"/>
                    <a:pt x="3799840" y="2092"/>
                    <a:pt x="3803564" y="5817"/>
                  </a:cubicBezTo>
                  <a:cubicBezTo>
                    <a:pt x="3807289" y="9541"/>
                    <a:pt x="3809381" y="14592"/>
                    <a:pt x="3809381" y="19859"/>
                  </a:cubicBezTo>
                  <a:lnTo>
                    <a:pt x="3809381" y="470170"/>
                  </a:lnTo>
                  <a:cubicBezTo>
                    <a:pt x="3809381" y="475437"/>
                    <a:pt x="3807289" y="480488"/>
                    <a:pt x="3803564" y="484213"/>
                  </a:cubicBezTo>
                  <a:cubicBezTo>
                    <a:pt x="3799840" y="487937"/>
                    <a:pt x="3794789" y="490029"/>
                    <a:pt x="3789522" y="490029"/>
                  </a:cubicBezTo>
                  <a:lnTo>
                    <a:pt x="19859" y="490029"/>
                  </a:lnTo>
                  <a:cubicBezTo>
                    <a:pt x="14592" y="490029"/>
                    <a:pt x="9541" y="487937"/>
                    <a:pt x="5817" y="484213"/>
                  </a:cubicBezTo>
                  <a:cubicBezTo>
                    <a:pt x="2092" y="480488"/>
                    <a:pt x="0" y="475437"/>
                    <a:pt x="0" y="470170"/>
                  </a:cubicBezTo>
                  <a:lnTo>
                    <a:pt x="0" y="19859"/>
                  </a:lnTo>
                  <a:cubicBezTo>
                    <a:pt x="0" y="14592"/>
                    <a:pt x="2092" y="9541"/>
                    <a:pt x="5817" y="5817"/>
                  </a:cubicBezTo>
                  <a:cubicBezTo>
                    <a:pt x="9541" y="2092"/>
                    <a:pt x="14592" y="0"/>
                    <a:pt x="19859" y="0"/>
                  </a:cubicBezTo>
                  <a:close/>
                </a:path>
              </a:pathLst>
            </a:custGeom>
            <a:solidFill>
              <a:srgbClr val="F4ED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3809381" cy="5662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699963" y="4733753"/>
            <a:ext cx="11695077" cy="1504426"/>
            <a:chOff x="0" y="0"/>
            <a:chExt cx="3809381" cy="49002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809381" cy="490029"/>
            </a:xfrm>
            <a:custGeom>
              <a:avLst/>
              <a:gdLst/>
              <a:ahLst/>
              <a:cxnLst/>
              <a:rect l="l" t="t" r="r" b="b"/>
              <a:pathLst>
                <a:path w="3809381" h="490029">
                  <a:moveTo>
                    <a:pt x="19859" y="0"/>
                  </a:moveTo>
                  <a:lnTo>
                    <a:pt x="3789522" y="0"/>
                  </a:lnTo>
                  <a:cubicBezTo>
                    <a:pt x="3794789" y="0"/>
                    <a:pt x="3799840" y="2092"/>
                    <a:pt x="3803564" y="5817"/>
                  </a:cubicBezTo>
                  <a:cubicBezTo>
                    <a:pt x="3807289" y="9541"/>
                    <a:pt x="3809381" y="14592"/>
                    <a:pt x="3809381" y="19859"/>
                  </a:cubicBezTo>
                  <a:lnTo>
                    <a:pt x="3809381" y="470170"/>
                  </a:lnTo>
                  <a:cubicBezTo>
                    <a:pt x="3809381" y="475437"/>
                    <a:pt x="3807289" y="480488"/>
                    <a:pt x="3803564" y="484213"/>
                  </a:cubicBezTo>
                  <a:cubicBezTo>
                    <a:pt x="3799840" y="487937"/>
                    <a:pt x="3794789" y="490029"/>
                    <a:pt x="3789522" y="490029"/>
                  </a:cubicBezTo>
                  <a:lnTo>
                    <a:pt x="19859" y="490029"/>
                  </a:lnTo>
                  <a:cubicBezTo>
                    <a:pt x="14592" y="490029"/>
                    <a:pt x="9541" y="487937"/>
                    <a:pt x="5817" y="484213"/>
                  </a:cubicBezTo>
                  <a:cubicBezTo>
                    <a:pt x="2092" y="480488"/>
                    <a:pt x="0" y="475437"/>
                    <a:pt x="0" y="470170"/>
                  </a:cubicBezTo>
                  <a:lnTo>
                    <a:pt x="0" y="19859"/>
                  </a:lnTo>
                  <a:cubicBezTo>
                    <a:pt x="0" y="14592"/>
                    <a:pt x="2092" y="9541"/>
                    <a:pt x="5817" y="5817"/>
                  </a:cubicBezTo>
                  <a:cubicBezTo>
                    <a:pt x="9541" y="2092"/>
                    <a:pt x="14592" y="0"/>
                    <a:pt x="19859" y="0"/>
                  </a:cubicBezTo>
                  <a:close/>
                </a:path>
              </a:pathLst>
            </a:custGeom>
            <a:solidFill>
              <a:srgbClr val="F4ED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3809381" cy="5662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699963" y="6409629"/>
            <a:ext cx="11695077" cy="1504426"/>
            <a:chOff x="0" y="0"/>
            <a:chExt cx="3809381" cy="49002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809381" cy="490029"/>
            </a:xfrm>
            <a:custGeom>
              <a:avLst/>
              <a:gdLst/>
              <a:ahLst/>
              <a:cxnLst/>
              <a:rect l="l" t="t" r="r" b="b"/>
              <a:pathLst>
                <a:path w="3809381" h="490029">
                  <a:moveTo>
                    <a:pt x="19859" y="0"/>
                  </a:moveTo>
                  <a:lnTo>
                    <a:pt x="3789522" y="0"/>
                  </a:lnTo>
                  <a:cubicBezTo>
                    <a:pt x="3794789" y="0"/>
                    <a:pt x="3799840" y="2092"/>
                    <a:pt x="3803564" y="5817"/>
                  </a:cubicBezTo>
                  <a:cubicBezTo>
                    <a:pt x="3807289" y="9541"/>
                    <a:pt x="3809381" y="14592"/>
                    <a:pt x="3809381" y="19859"/>
                  </a:cubicBezTo>
                  <a:lnTo>
                    <a:pt x="3809381" y="470170"/>
                  </a:lnTo>
                  <a:cubicBezTo>
                    <a:pt x="3809381" y="475437"/>
                    <a:pt x="3807289" y="480488"/>
                    <a:pt x="3803564" y="484213"/>
                  </a:cubicBezTo>
                  <a:cubicBezTo>
                    <a:pt x="3799840" y="487937"/>
                    <a:pt x="3794789" y="490029"/>
                    <a:pt x="3789522" y="490029"/>
                  </a:cubicBezTo>
                  <a:lnTo>
                    <a:pt x="19859" y="490029"/>
                  </a:lnTo>
                  <a:cubicBezTo>
                    <a:pt x="14592" y="490029"/>
                    <a:pt x="9541" y="487937"/>
                    <a:pt x="5817" y="484213"/>
                  </a:cubicBezTo>
                  <a:cubicBezTo>
                    <a:pt x="2092" y="480488"/>
                    <a:pt x="0" y="475437"/>
                    <a:pt x="0" y="470170"/>
                  </a:cubicBezTo>
                  <a:lnTo>
                    <a:pt x="0" y="19859"/>
                  </a:lnTo>
                  <a:cubicBezTo>
                    <a:pt x="0" y="14592"/>
                    <a:pt x="2092" y="9541"/>
                    <a:pt x="5817" y="5817"/>
                  </a:cubicBezTo>
                  <a:cubicBezTo>
                    <a:pt x="9541" y="2092"/>
                    <a:pt x="14592" y="0"/>
                    <a:pt x="19859" y="0"/>
                  </a:cubicBezTo>
                  <a:close/>
                </a:path>
              </a:pathLst>
            </a:custGeom>
            <a:solidFill>
              <a:srgbClr val="F4ED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76200"/>
              <a:ext cx="3809381" cy="5662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029287" y="3161703"/>
            <a:ext cx="11278278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2669" dirty="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Design a Distributed Backup System</a:t>
            </a:r>
          </a:p>
          <a:p>
            <a:pPr algn="l">
              <a:lnSpc>
                <a:spcPts val="3202"/>
              </a:lnSpc>
            </a:pPr>
            <a:r>
              <a:rPr lang="en-US" sz="2669" dirty="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To build a system where multiple nodes work together without relying on a central server, improving reliability and fault tolerance.</a:t>
            </a:r>
          </a:p>
          <a:p>
            <a:pPr algn="l">
              <a:lnSpc>
                <a:spcPts val="3202"/>
              </a:lnSpc>
            </a:pPr>
            <a:endParaRPr lang="en-US" sz="2669" dirty="0">
              <a:solidFill>
                <a:srgbClr val="000000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963931" y="4916284"/>
            <a:ext cx="11139724" cy="1643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656" dirty="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Automate Backup Processes</a:t>
            </a:r>
          </a:p>
          <a:p>
            <a:pPr algn="l">
              <a:lnSpc>
                <a:spcPts val="3187"/>
              </a:lnSpc>
            </a:pPr>
            <a:r>
              <a:rPr lang="en-US" sz="2656" dirty="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To automate backup operations using scripts, reducing manual work and minimizing human errors.</a:t>
            </a:r>
          </a:p>
          <a:p>
            <a:pPr algn="l">
              <a:lnSpc>
                <a:spcPts val="3187"/>
              </a:lnSpc>
            </a:pPr>
            <a:endParaRPr lang="en-US" sz="2656" dirty="0">
              <a:solidFill>
                <a:srgbClr val="000000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3963931" y="6502664"/>
            <a:ext cx="10903759" cy="16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Ensure Secure and Efficient Data Management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To secure communication between nodes using SSH and improve data handling efficiency through structured backup strategies.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31" name="Freeform 31"/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 rot="-54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3" name="Group 33"/>
          <p:cNvGrpSpPr/>
          <p:nvPr/>
        </p:nvGrpSpPr>
        <p:grpSpPr>
          <a:xfrm>
            <a:off x="2892959" y="3319112"/>
            <a:ext cx="981956" cy="981956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01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92959" y="4994988"/>
            <a:ext cx="981956" cy="981956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02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892959" y="6670865"/>
            <a:ext cx="981956" cy="981956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6488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6236222" y="1739264"/>
            <a:ext cx="5727178" cy="965836"/>
            <a:chOff x="0" y="0"/>
            <a:chExt cx="1785490" cy="3112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341594" y="1691723"/>
            <a:ext cx="5604812" cy="1119335"/>
            <a:chOff x="0" y="0"/>
            <a:chExt cx="1785490" cy="3112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638800" y="1803903"/>
            <a:ext cx="7161612" cy="6419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4000" dirty="0">
                <a:latin typeface="Amasis MT Pro Black" panose="02040A04050005020304" pitchFamily="18" charset="0"/>
              </a:rPr>
              <a:t>System Architecture</a:t>
            </a:r>
            <a:endParaRPr lang="en-US" sz="3835" dirty="0">
              <a:solidFill>
                <a:srgbClr val="000000"/>
              </a:solidFill>
              <a:latin typeface="Amasis MT Pro Black" panose="02040A04050005020304" pitchFamily="18" charset="0"/>
              <a:ea typeface="Norwester"/>
              <a:cs typeface="Norwester"/>
              <a:sym typeface="Norweste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28700" y="252217"/>
            <a:ext cx="4586373" cy="400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 An Najah University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96461" y="3495913"/>
            <a:ext cx="11695077" cy="387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dirty="0"/>
              <a:t>The system consists of three Ubuntu virtual machines connected via a private network.</a:t>
            </a:r>
          </a:p>
          <a:p>
            <a:r>
              <a:rPr lang="en-US" sz="3600" dirty="0"/>
              <a:t>Each node includes:</a:t>
            </a:r>
            <a:endParaRPr lang="ar-SA" sz="3600" dirty="0"/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3600" dirty="0"/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dirty="0"/>
              <a:t>Web interface 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dirty="0"/>
              <a:t>Backup engine 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dirty="0"/>
              <a:t>Automation scripts </a:t>
            </a:r>
          </a:p>
        </p:txBody>
      </p:sp>
      <p:sp>
        <p:nvSpPr>
          <p:cNvPr id="21" name="Freeform 21"/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 rot="-54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1F9DF4-0B36-A2E4-3C33-525F27166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C182119-2E16-65AF-69B1-A2A48DA30765}"/>
              </a:ext>
            </a:extLst>
          </p:cNvPr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CD01947-88CD-3B7C-DF2D-7FF7E522D52D}"/>
              </a:ext>
            </a:extLst>
          </p:cNvPr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4B17DD3-262B-AC6E-B96C-5544FBA9807D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953C134-6CE1-E84B-2288-9552D520ABD0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25E4E3D-4CC5-EAD2-2BC6-3005C0A07D79}"/>
                </a:ext>
              </a:extLst>
            </p:cNvPr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BE6AAEB-A83B-D188-F245-C25B6552E8A8}"/>
              </a:ext>
            </a:extLst>
          </p:cNvPr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27A82B3-2250-04AB-76F4-1DF58B7BF13B}"/>
              </a:ext>
            </a:extLst>
          </p:cNvPr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E22FC90-23CD-AA06-5021-D5AF1181D3CE}"/>
              </a:ext>
            </a:extLst>
          </p:cNvPr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F953DAF-4496-A046-235C-F23ABC1D704F}"/>
              </a:ext>
            </a:extLst>
          </p:cNvPr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958CBF9-AF01-4A91-13CD-4E9CBEB2C30A}"/>
              </a:ext>
            </a:extLst>
          </p:cNvPr>
          <p:cNvGrpSpPr/>
          <p:nvPr/>
        </p:nvGrpSpPr>
        <p:grpSpPr>
          <a:xfrm>
            <a:off x="6481816" y="1534701"/>
            <a:ext cx="5481584" cy="955562"/>
            <a:chOff x="0" y="0"/>
            <a:chExt cx="1785490" cy="311251"/>
          </a:xfrm>
        </p:grpSpPr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4F7F41C-E32A-6EA7-9663-7330F35ACA50}"/>
                </a:ext>
              </a:extLst>
            </p:cNvPr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D56F6DE-4CFF-D45C-EDE4-95183E38D733}"/>
                </a:ext>
              </a:extLst>
            </p:cNvPr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102001B1-2307-44D9-BD8A-4833D0CFB026}"/>
              </a:ext>
            </a:extLst>
          </p:cNvPr>
          <p:cNvGrpSpPr/>
          <p:nvPr/>
        </p:nvGrpSpPr>
        <p:grpSpPr>
          <a:xfrm>
            <a:off x="6464822" y="1691724"/>
            <a:ext cx="5481584" cy="955562"/>
            <a:chOff x="0" y="0"/>
            <a:chExt cx="1785490" cy="311251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2FA8C2F-F259-F8F6-CA34-FE617D29693C}"/>
                </a:ext>
              </a:extLst>
            </p:cNvPr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711A073E-BB1F-1FC0-08A8-C1B0C52B5088}"/>
                </a:ext>
              </a:extLst>
            </p:cNvPr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5E5AA740-A872-4840-0B50-48A7559B0869}"/>
              </a:ext>
            </a:extLst>
          </p:cNvPr>
          <p:cNvSpPr txBox="1"/>
          <p:nvPr/>
        </p:nvSpPr>
        <p:spPr>
          <a:xfrm>
            <a:off x="6324600" y="1803903"/>
            <a:ext cx="5788646" cy="65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4000" dirty="0">
                <a:latin typeface="Amasis MT Pro Black" panose="02040A04050005020304" pitchFamily="18" charset="0"/>
              </a:rPr>
              <a:t>Our topology </a:t>
            </a:r>
            <a:endParaRPr lang="en-US" sz="3835" dirty="0">
              <a:solidFill>
                <a:srgbClr val="000000"/>
              </a:solidFill>
              <a:latin typeface="Amasis MT Pro Black" panose="02040A04050005020304" pitchFamily="18" charset="0"/>
              <a:ea typeface="Norwester"/>
              <a:cs typeface="Norwester"/>
              <a:sym typeface="Norwester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9BE5E2D-FD91-FCD0-5017-643483A01B29}"/>
              </a:ext>
            </a:extLst>
          </p:cNvPr>
          <p:cNvSpPr txBox="1"/>
          <p:nvPr/>
        </p:nvSpPr>
        <p:spPr>
          <a:xfrm>
            <a:off x="1028700" y="252217"/>
            <a:ext cx="4586373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/>
              <a:t> An Najah University</a:t>
            </a:r>
            <a:endParaRPr lang="en-US" sz="3600" dirty="0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40821727-1713-E888-FCC2-C43E67D3E495}"/>
              </a:ext>
            </a:extLst>
          </p:cNvPr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52878A33-995A-4B65-6946-54463C6E3D97}"/>
              </a:ext>
            </a:extLst>
          </p:cNvPr>
          <p:cNvSpPr/>
          <p:nvPr/>
        </p:nvSpPr>
        <p:spPr>
          <a:xfrm rot="-5400000" flipH="1">
            <a:off x="-2972370" y="219265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22F21B69-93AE-CEA7-366E-810F6A2D9838}"/>
              </a:ext>
            </a:extLst>
          </p:cNvPr>
          <p:cNvGrpSpPr/>
          <p:nvPr/>
        </p:nvGrpSpPr>
        <p:grpSpPr>
          <a:xfrm>
            <a:off x="4975668" y="2540904"/>
            <a:ext cx="8924945" cy="6407801"/>
            <a:chOff x="-136503" y="-76200"/>
            <a:chExt cx="1444208" cy="164572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2628976-2529-21A8-DBAA-D71D51E2DAF1}"/>
                </a:ext>
              </a:extLst>
            </p:cNvPr>
            <p:cNvSpPr/>
            <p:nvPr/>
          </p:nvSpPr>
          <p:spPr>
            <a:xfrm>
              <a:off x="-136503" y="0"/>
              <a:ext cx="1321544" cy="1569523"/>
            </a:xfrm>
            <a:custGeom>
              <a:avLst/>
              <a:gdLst/>
              <a:ahLst/>
              <a:cxnLst/>
              <a:rect l="l" t="t" r="r" b="b"/>
              <a:pathLst>
                <a:path w="1307705" h="1569523">
                  <a:moveTo>
                    <a:pt x="57851" y="0"/>
                  </a:moveTo>
                  <a:lnTo>
                    <a:pt x="1249854" y="0"/>
                  </a:lnTo>
                  <a:cubicBezTo>
                    <a:pt x="1265197" y="0"/>
                    <a:pt x="1279912" y="6095"/>
                    <a:pt x="1290761" y="16944"/>
                  </a:cubicBezTo>
                  <a:cubicBezTo>
                    <a:pt x="1301610" y="27793"/>
                    <a:pt x="1307705" y="42508"/>
                    <a:pt x="1307705" y="57851"/>
                  </a:cubicBezTo>
                  <a:lnTo>
                    <a:pt x="1307705" y="1511672"/>
                  </a:lnTo>
                  <a:cubicBezTo>
                    <a:pt x="1307705" y="1527015"/>
                    <a:pt x="1301610" y="1541730"/>
                    <a:pt x="1290761" y="1552579"/>
                  </a:cubicBezTo>
                  <a:cubicBezTo>
                    <a:pt x="1279912" y="1563428"/>
                    <a:pt x="1265197" y="1569523"/>
                    <a:pt x="1249854" y="1569523"/>
                  </a:cubicBezTo>
                  <a:lnTo>
                    <a:pt x="57851" y="1569523"/>
                  </a:lnTo>
                  <a:cubicBezTo>
                    <a:pt x="42508" y="1569523"/>
                    <a:pt x="27793" y="1563428"/>
                    <a:pt x="16944" y="1552579"/>
                  </a:cubicBezTo>
                  <a:cubicBezTo>
                    <a:pt x="6095" y="1541730"/>
                    <a:pt x="0" y="1527015"/>
                    <a:pt x="0" y="1511672"/>
                  </a:cubicBezTo>
                  <a:lnTo>
                    <a:pt x="0" y="57851"/>
                  </a:lnTo>
                  <a:cubicBezTo>
                    <a:pt x="0" y="42508"/>
                    <a:pt x="6095" y="27793"/>
                    <a:pt x="16944" y="16944"/>
                  </a:cubicBezTo>
                  <a:cubicBezTo>
                    <a:pt x="27793" y="6095"/>
                    <a:pt x="42508" y="0"/>
                    <a:pt x="57851" y="0"/>
                  </a:cubicBezTo>
                  <a:close/>
                </a:path>
              </a:pathLst>
            </a:custGeom>
            <a:solidFill>
              <a:srgbClr val="F4EDFB"/>
            </a:solidFill>
          </p:spPr>
          <p:txBody>
            <a:bodyPr/>
            <a:lstStyle/>
            <a:p>
              <a:pPr algn="ctr">
                <a:lnSpc>
                  <a:spcPct val="150000"/>
                </a:lnSpc>
              </a:pPr>
              <a:endParaRPr lang="en-US" sz="2800" dirty="0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4F6A01E-BF6E-D292-8CC2-2849DA88D014}"/>
                </a:ext>
              </a:extLst>
            </p:cNvPr>
            <p:cNvSpPr txBox="1"/>
            <p:nvPr/>
          </p:nvSpPr>
          <p:spPr>
            <a:xfrm>
              <a:off x="0" y="-76200"/>
              <a:ext cx="1307705" cy="1645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9" name="Picture 26">
            <a:extLst>
              <a:ext uri="{FF2B5EF4-FFF2-40B4-BE49-F238E27FC236}">
                <a16:creationId xmlns:a16="http://schemas.microsoft.com/office/drawing/2014/main" id="{A8F6C91B-2117-23BB-6ABE-CCD3F041AF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5318" y="3428770"/>
            <a:ext cx="7467604" cy="49420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2537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5974886" y="1534701"/>
            <a:ext cx="6198876" cy="955562"/>
            <a:chOff x="0" y="0"/>
            <a:chExt cx="2019130" cy="3112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19130" cy="311251"/>
            </a:xfrm>
            <a:custGeom>
              <a:avLst/>
              <a:gdLst/>
              <a:ahLst/>
              <a:cxnLst/>
              <a:rect l="l" t="t" r="r" b="b"/>
              <a:pathLst>
                <a:path w="2019130" h="311251">
                  <a:moveTo>
                    <a:pt x="0" y="0"/>
                  </a:moveTo>
                  <a:lnTo>
                    <a:pt x="2019130" y="0"/>
                  </a:lnTo>
                  <a:lnTo>
                    <a:pt x="201913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201913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114238" y="1691724"/>
            <a:ext cx="6198876" cy="955562"/>
            <a:chOff x="0" y="0"/>
            <a:chExt cx="2019130" cy="3112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19130" cy="311251"/>
            </a:xfrm>
            <a:custGeom>
              <a:avLst/>
              <a:gdLst/>
              <a:ahLst/>
              <a:cxnLst/>
              <a:rect l="l" t="t" r="r" b="b"/>
              <a:pathLst>
                <a:path w="2019130" h="311251">
                  <a:moveTo>
                    <a:pt x="0" y="0"/>
                  </a:moveTo>
                  <a:lnTo>
                    <a:pt x="2019130" y="0"/>
                  </a:lnTo>
                  <a:lnTo>
                    <a:pt x="201913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201913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464822" y="1803903"/>
            <a:ext cx="5358356" cy="655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835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CORE CONCEPTS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252217"/>
            <a:ext cx="4586373" cy="4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 An Najah University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72927" y="9387387"/>
            <a:ext cx="4586373" cy="479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Informatics Engineering | 2024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3475822" y="3371776"/>
            <a:ext cx="5442983" cy="4818550"/>
            <a:chOff x="0" y="0"/>
            <a:chExt cx="1772917" cy="15695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72917" cy="1569523"/>
            </a:xfrm>
            <a:custGeom>
              <a:avLst/>
              <a:gdLst/>
              <a:ahLst/>
              <a:cxnLst/>
              <a:rect l="l" t="t" r="r" b="b"/>
              <a:pathLst>
                <a:path w="1772917" h="1569523">
                  <a:moveTo>
                    <a:pt x="42671" y="0"/>
                  </a:moveTo>
                  <a:lnTo>
                    <a:pt x="1730246" y="0"/>
                  </a:lnTo>
                  <a:cubicBezTo>
                    <a:pt x="1741563" y="0"/>
                    <a:pt x="1752416" y="4496"/>
                    <a:pt x="1760419" y="12498"/>
                  </a:cubicBezTo>
                  <a:cubicBezTo>
                    <a:pt x="1768421" y="20500"/>
                    <a:pt x="1772917" y="31354"/>
                    <a:pt x="1772917" y="42671"/>
                  </a:cubicBezTo>
                  <a:lnTo>
                    <a:pt x="1772917" y="1526852"/>
                  </a:lnTo>
                  <a:cubicBezTo>
                    <a:pt x="1772917" y="1538169"/>
                    <a:pt x="1768421" y="1549023"/>
                    <a:pt x="1760419" y="1557025"/>
                  </a:cubicBezTo>
                  <a:cubicBezTo>
                    <a:pt x="1752416" y="1565027"/>
                    <a:pt x="1741563" y="1569523"/>
                    <a:pt x="1730246" y="1569523"/>
                  </a:cubicBezTo>
                  <a:lnTo>
                    <a:pt x="42671" y="1569523"/>
                  </a:lnTo>
                  <a:cubicBezTo>
                    <a:pt x="31354" y="1569523"/>
                    <a:pt x="20500" y="1565027"/>
                    <a:pt x="12498" y="1557025"/>
                  </a:cubicBezTo>
                  <a:cubicBezTo>
                    <a:pt x="4496" y="1549023"/>
                    <a:pt x="0" y="1538169"/>
                    <a:pt x="0" y="1526852"/>
                  </a:cubicBezTo>
                  <a:lnTo>
                    <a:pt x="0" y="42671"/>
                  </a:lnTo>
                  <a:cubicBezTo>
                    <a:pt x="0" y="31354"/>
                    <a:pt x="4496" y="20500"/>
                    <a:pt x="12498" y="12498"/>
                  </a:cubicBezTo>
                  <a:cubicBezTo>
                    <a:pt x="20500" y="4496"/>
                    <a:pt x="31354" y="0"/>
                    <a:pt x="42671" y="0"/>
                  </a:cubicBezTo>
                  <a:close/>
                </a:path>
              </a:pathLst>
            </a:custGeom>
            <a:solidFill>
              <a:srgbClr val="F4ED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1772917" cy="1645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30236" y="3371776"/>
            <a:ext cx="5442983" cy="4818550"/>
            <a:chOff x="0" y="0"/>
            <a:chExt cx="1772917" cy="156952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772917" cy="1569523"/>
            </a:xfrm>
            <a:custGeom>
              <a:avLst/>
              <a:gdLst/>
              <a:ahLst/>
              <a:cxnLst/>
              <a:rect l="l" t="t" r="r" b="b"/>
              <a:pathLst>
                <a:path w="1772917" h="1569523">
                  <a:moveTo>
                    <a:pt x="42671" y="0"/>
                  </a:moveTo>
                  <a:lnTo>
                    <a:pt x="1730246" y="0"/>
                  </a:lnTo>
                  <a:cubicBezTo>
                    <a:pt x="1741563" y="0"/>
                    <a:pt x="1752416" y="4496"/>
                    <a:pt x="1760419" y="12498"/>
                  </a:cubicBezTo>
                  <a:cubicBezTo>
                    <a:pt x="1768421" y="20500"/>
                    <a:pt x="1772917" y="31354"/>
                    <a:pt x="1772917" y="42671"/>
                  </a:cubicBezTo>
                  <a:lnTo>
                    <a:pt x="1772917" y="1526852"/>
                  </a:lnTo>
                  <a:cubicBezTo>
                    <a:pt x="1772917" y="1538169"/>
                    <a:pt x="1768421" y="1549023"/>
                    <a:pt x="1760419" y="1557025"/>
                  </a:cubicBezTo>
                  <a:cubicBezTo>
                    <a:pt x="1752416" y="1565027"/>
                    <a:pt x="1741563" y="1569523"/>
                    <a:pt x="1730246" y="1569523"/>
                  </a:cubicBezTo>
                  <a:lnTo>
                    <a:pt x="42671" y="1569523"/>
                  </a:lnTo>
                  <a:cubicBezTo>
                    <a:pt x="31354" y="1569523"/>
                    <a:pt x="20500" y="1565027"/>
                    <a:pt x="12498" y="1557025"/>
                  </a:cubicBezTo>
                  <a:cubicBezTo>
                    <a:pt x="4496" y="1549023"/>
                    <a:pt x="0" y="1538169"/>
                    <a:pt x="0" y="1526852"/>
                  </a:cubicBezTo>
                  <a:lnTo>
                    <a:pt x="0" y="42671"/>
                  </a:lnTo>
                  <a:cubicBezTo>
                    <a:pt x="0" y="31354"/>
                    <a:pt x="4496" y="20500"/>
                    <a:pt x="12498" y="12498"/>
                  </a:cubicBezTo>
                  <a:cubicBezTo>
                    <a:pt x="20500" y="4496"/>
                    <a:pt x="31354" y="0"/>
                    <a:pt x="42671" y="0"/>
                  </a:cubicBezTo>
                  <a:close/>
                </a:path>
              </a:pathLst>
            </a:custGeom>
            <a:solidFill>
              <a:srgbClr val="F4ED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76200"/>
              <a:ext cx="1772917" cy="1645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3875059" y="3966709"/>
            <a:ext cx="4644509" cy="3788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A distributed system is a group of independent nodes working together without a central server, improving reliability and scalability.</a:t>
            </a:r>
          </a:p>
          <a:p>
            <a:pPr algn="ctr">
              <a:lnSpc>
                <a:spcPct val="150000"/>
              </a:lnSpc>
            </a:pPr>
            <a:endParaRPr lang="en-US" sz="2799" dirty="0">
              <a:solidFill>
                <a:srgbClr val="000000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729473" y="3966709"/>
            <a:ext cx="4644509" cy="314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Automation means tasks are done automatically using scripts, reducing effort and errors.</a:t>
            </a:r>
          </a:p>
          <a:p>
            <a:pPr algn="ctr">
              <a:lnSpc>
                <a:spcPct val="150000"/>
              </a:lnSpc>
            </a:pPr>
            <a:endParaRPr lang="en-US" sz="2799" dirty="0">
              <a:solidFill>
                <a:srgbClr val="000000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4383969" y="3025764"/>
            <a:ext cx="3626688" cy="763977"/>
            <a:chOff x="0" y="0"/>
            <a:chExt cx="1099154" cy="23154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99154" cy="231541"/>
            </a:xfrm>
            <a:custGeom>
              <a:avLst/>
              <a:gdLst/>
              <a:ahLst/>
              <a:cxnLst/>
              <a:rect l="l" t="t" r="r" b="b"/>
              <a:pathLst>
                <a:path w="1099154" h="231541">
                  <a:moveTo>
                    <a:pt x="36290" y="0"/>
                  </a:moveTo>
                  <a:lnTo>
                    <a:pt x="1062864" y="0"/>
                  </a:lnTo>
                  <a:cubicBezTo>
                    <a:pt x="1072488" y="0"/>
                    <a:pt x="1081719" y="3823"/>
                    <a:pt x="1088525" y="10629"/>
                  </a:cubicBezTo>
                  <a:cubicBezTo>
                    <a:pt x="1095330" y="17435"/>
                    <a:pt x="1099154" y="26665"/>
                    <a:pt x="1099154" y="36290"/>
                  </a:cubicBezTo>
                  <a:lnTo>
                    <a:pt x="1099154" y="195251"/>
                  </a:lnTo>
                  <a:cubicBezTo>
                    <a:pt x="1099154" y="215294"/>
                    <a:pt x="1082906" y="231541"/>
                    <a:pt x="1062864" y="231541"/>
                  </a:cubicBezTo>
                  <a:lnTo>
                    <a:pt x="36290" y="231541"/>
                  </a:lnTo>
                  <a:cubicBezTo>
                    <a:pt x="16248" y="231541"/>
                    <a:pt x="0" y="215294"/>
                    <a:pt x="0" y="195251"/>
                  </a:cubicBezTo>
                  <a:lnTo>
                    <a:pt x="0" y="36290"/>
                  </a:lnTo>
                  <a:cubicBezTo>
                    <a:pt x="0" y="16248"/>
                    <a:pt x="16248" y="0"/>
                    <a:pt x="36290" y="0"/>
                  </a:cubicBez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1099154" cy="288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Distributed Systems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238383" y="3025764"/>
            <a:ext cx="3626688" cy="763977"/>
            <a:chOff x="0" y="0"/>
            <a:chExt cx="1099154" cy="23154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99154" cy="231541"/>
            </a:xfrm>
            <a:custGeom>
              <a:avLst/>
              <a:gdLst/>
              <a:ahLst/>
              <a:cxnLst/>
              <a:rect l="l" t="t" r="r" b="b"/>
              <a:pathLst>
                <a:path w="1099154" h="231541">
                  <a:moveTo>
                    <a:pt x="36290" y="0"/>
                  </a:moveTo>
                  <a:lnTo>
                    <a:pt x="1062864" y="0"/>
                  </a:lnTo>
                  <a:cubicBezTo>
                    <a:pt x="1072488" y="0"/>
                    <a:pt x="1081719" y="3823"/>
                    <a:pt x="1088525" y="10629"/>
                  </a:cubicBezTo>
                  <a:cubicBezTo>
                    <a:pt x="1095330" y="17435"/>
                    <a:pt x="1099154" y="26665"/>
                    <a:pt x="1099154" y="36290"/>
                  </a:cubicBezTo>
                  <a:lnTo>
                    <a:pt x="1099154" y="195251"/>
                  </a:lnTo>
                  <a:cubicBezTo>
                    <a:pt x="1099154" y="215294"/>
                    <a:pt x="1082906" y="231541"/>
                    <a:pt x="1062864" y="231541"/>
                  </a:cubicBezTo>
                  <a:lnTo>
                    <a:pt x="36290" y="231541"/>
                  </a:lnTo>
                  <a:cubicBezTo>
                    <a:pt x="16248" y="231541"/>
                    <a:pt x="0" y="215294"/>
                    <a:pt x="0" y="195251"/>
                  </a:cubicBezTo>
                  <a:lnTo>
                    <a:pt x="0" y="36290"/>
                  </a:lnTo>
                  <a:cubicBezTo>
                    <a:pt x="0" y="16248"/>
                    <a:pt x="16248" y="0"/>
                    <a:pt x="36290" y="0"/>
                  </a:cubicBez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1099154" cy="288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Automation</a:t>
              </a:r>
            </a:p>
          </p:txBody>
        </p:sp>
      </p:grpSp>
      <p:sp>
        <p:nvSpPr>
          <p:cNvPr id="34" name="Freeform 34"/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 rot="-54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5974886" y="1534701"/>
            <a:ext cx="6198876" cy="955562"/>
            <a:chOff x="0" y="0"/>
            <a:chExt cx="2019130" cy="3112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19130" cy="311251"/>
            </a:xfrm>
            <a:custGeom>
              <a:avLst/>
              <a:gdLst/>
              <a:ahLst/>
              <a:cxnLst/>
              <a:rect l="l" t="t" r="r" b="b"/>
              <a:pathLst>
                <a:path w="2019130" h="311251">
                  <a:moveTo>
                    <a:pt x="0" y="0"/>
                  </a:moveTo>
                  <a:lnTo>
                    <a:pt x="2019130" y="0"/>
                  </a:lnTo>
                  <a:lnTo>
                    <a:pt x="201913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201913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114238" y="1691724"/>
            <a:ext cx="6198876" cy="955562"/>
            <a:chOff x="0" y="0"/>
            <a:chExt cx="2019130" cy="3112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19130" cy="311251"/>
            </a:xfrm>
            <a:custGeom>
              <a:avLst/>
              <a:gdLst/>
              <a:ahLst/>
              <a:cxnLst/>
              <a:rect l="l" t="t" r="r" b="b"/>
              <a:pathLst>
                <a:path w="2019130" h="311251">
                  <a:moveTo>
                    <a:pt x="0" y="0"/>
                  </a:moveTo>
                  <a:lnTo>
                    <a:pt x="2019130" y="0"/>
                  </a:lnTo>
                  <a:lnTo>
                    <a:pt x="201913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201913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464822" y="1803903"/>
            <a:ext cx="5358356" cy="655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835" dirty="0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TECHNOLOGIES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252217"/>
            <a:ext cx="4586373" cy="4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 An Najah University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3475822" y="3371776"/>
            <a:ext cx="5442983" cy="4818550"/>
            <a:chOff x="0" y="0"/>
            <a:chExt cx="1772917" cy="156952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72917" cy="1569523"/>
            </a:xfrm>
            <a:custGeom>
              <a:avLst/>
              <a:gdLst/>
              <a:ahLst/>
              <a:cxnLst/>
              <a:rect l="l" t="t" r="r" b="b"/>
              <a:pathLst>
                <a:path w="1772917" h="1569523">
                  <a:moveTo>
                    <a:pt x="42671" y="0"/>
                  </a:moveTo>
                  <a:lnTo>
                    <a:pt x="1730246" y="0"/>
                  </a:lnTo>
                  <a:cubicBezTo>
                    <a:pt x="1741563" y="0"/>
                    <a:pt x="1752416" y="4496"/>
                    <a:pt x="1760419" y="12498"/>
                  </a:cubicBezTo>
                  <a:cubicBezTo>
                    <a:pt x="1768421" y="20500"/>
                    <a:pt x="1772917" y="31354"/>
                    <a:pt x="1772917" y="42671"/>
                  </a:cubicBezTo>
                  <a:lnTo>
                    <a:pt x="1772917" y="1526852"/>
                  </a:lnTo>
                  <a:cubicBezTo>
                    <a:pt x="1772917" y="1538169"/>
                    <a:pt x="1768421" y="1549023"/>
                    <a:pt x="1760419" y="1557025"/>
                  </a:cubicBezTo>
                  <a:cubicBezTo>
                    <a:pt x="1752416" y="1565027"/>
                    <a:pt x="1741563" y="1569523"/>
                    <a:pt x="1730246" y="1569523"/>
                  </a:cubicBezTo>
                  <a:lnTo>
                    <a:pt x="42671" y="1569523"/>
                  </a:lnTo>
                  <a:cubicBezTo>
                    <a:pt x="31354" y="1569523"/>
                    <a:pt x="20500" y="1565027"/>
                    <a:pt x="12498" y="1557025"/>
                  </a:cubicBezTo>
                  <a:cubicBezTo>
                    <a:pt x="4496" y="1549023"/>
                    <a:pt x="0" y="1538169"/>
                    <a:pt x="0" y="1526852"/>
                  </a:cubicBezTo>
                  <a:lnTo>
                    <a:pt x="0" y="42671"/>
                  </a:lnTo>
                  <a:cubicBezTo>
                    <a:pt x="0" y="31354"/>
                    <a:pt x="4496" y="20500"/>
                    <a:pt x="12498" y="12498"/>
                  </a:cubicBezTo>
                  <a:cubicBezTo>
                    <a:pt x="20500" y="4496"/>
                    <a:pt x="31354" y="0"/>
                    <a:pt x="42671" y="0"/>
                  </a:cubicBezTo>
                  <a:close/>
                </a:path>
              </a:pathLst>
            </a:custGeom>
            <a:solidFill>
              <a:srgbClr val="F4ED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1772917" cy="1645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330236" y="3371776"/>
            <a:ext cx="5442983" cy="4818550"/>
            <a:chOff x="0" y="0"/>
            <a:chExt cx="1772917" cy="156952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772917" cy="1569523"/>
            </a:xfrm>
            <a:custGeom>
              <a:avLst/>
              <a:gdLst/>
              <a:ahLst/>
              <a:cxnLst/>
              <a:rect l="l" t="t" r="r" b="b"/>
              <a:pathLst>
                <a:path w="1772917" h="1569523">
                  <a:moveTo>
                    <a:pt x="42671" y="0"/>
                  </a:moveTo>
                  <a:lnTo>
                    <a:pt x="1730246" y="0"/>
                  </a:lnTo>
                  <a:cubicBezTo>
                    <a:pt x="1741563" y="0"/>
                    <a:pt x="1752416" y="4496"/>
                    <a:pt x="1760419" y="12498"/>
                  </a:cubicBezTo>
                  <a:cubicBezTo>
                    <a:pt x="1768421" y="20500"/>
                    <a:pt x="1772917" y="31354"/>
                    <a:pt x="1772917" y="42671"/>
                  </a:cubicBezTo>
                  <a:lnTo>
                    <a:pt x="1772917" y="1526852"/>
                  </a:lnTo>
                  <a:cubicBezTo>
                    <a:pt x="1772917" y="1538169"/>
                    <a:pt x="1768421" y="1549023"/>
                    <a:pt x="1760419" y="1557025"/>
                  </a:cubicBezTo>
                  <a:cubicBezTo>
                    <a:pt x="1752416" y="1565027"/>
                    <a:pt x="1741563" y="1569523"/>
                    <a:pt x="1730246" y="1569523"/>
                  </a:cubicBezTo>
                  <a:lnTo>
                    <a:pt x="42671" y="1569523"/>
                  </a:lnTo>
                  <a:cubicBezTo>
                    <a:pt x="31354" y="1569523"/>
                    <a:pt x="20500" y="1565027"/>
                    <a:pt x="12498" y="1557025"/>
                  </a:cubicBezTo>
                  <a:cubicBezTo>
                    <a:pt x="4496" y="1549023"/>
                    <a:pt x="0" y="1538169"/>
                    <a:pt x="0" y="1526852"/>
                  </a:cubicBezTo>
                  <a:lnTo>
                    <a:pt x="0" y="42671"/>
                  </a:lnTo>
                  <a:cubicBezTo>
                    <a:pt x="0" y="31354"/>
                    <a:pt x="4496" y="20500"/>
                    <a:pt x="12498" y="12498"/>
                  </a:cubicBezTo>
                  <a:cubicBezTo>
                    <a:pt x="20500" y="4496"/>
                    <a:pt x="31354" y="0"/>
                    <a:pt x="42671" y="0"/>
                  </a:cubicBezTo>
                  <a:close/>
                </a:path>
              </a:pathLst>
            </a:custGeom>
            <a:solidFill>
              <a:srgbClr val="F4ED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1772917" cy="1645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3875059" y="3966709"/>
            <a:ext cx="4644509" cy="416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Provides secure communication between nodes, allowing safe data transfer and remote execution.</a:t>
            </a:r>
          </a:p>
          <a:p>
            <a:pPr algn="ctr">
              <a:lnSpc>
                <a:spcPct val="200000"/>
              </a:lnSpc>
            </a:pPr>
            <a:endParaRPr lang="en-US" sz="2799" dirty="0">
              <a:solidFill>
                <a:srgbClr val="000000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729473" y="3966709"/>
            <a:ext cx="4644509" cy="3303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A tool used to efficiently transfer and synchronize files by copying only modified data.</a:t>
            </a:r>
          </a:p>
          <a:p>
            <a:pPr algn="ctr">
              <a:lnSpc>
                <a:spcPct val="200000"/>
              </a:lnSpc>
            </a:pPr>
            <a:endParaRPr lang="en-US" sz="2799" dirty="0">
              <a:solidFill>
                <a:srgbClr val="000000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3582345" y="2953584"/>
            <a:ext cx="4829707" cy="763977"/>
            <a:chOff x="0" y="0"/>
            <a:chExt cx="1463757" cy="23154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63757" cy="231541"/>
            </a:xfrm>
            <a:custGeom>
              <a:avLst/>
              <a:gdLst/>
              <a:ahLst/>
              <a:cxnLst/>
              <a:rect l="l" t="t" r="r" b="b"/>
              <a:pathLst>
                <a:path w="1463757" h="231541">
                  <a:moveTo>
                    <a:pt x="27251" y="0"/>
                  </a:moveTo>
                  <a:lnTo>
                    <a:pt x="1436506" y="0"/>
                  </a:lnTo>
                  <a:cubicBezTo>
                    <a:pt x="1443734" y="0"/>
                    <a:pt x="1450665" y="2871"/>
                    <a:pt x="1455775" y="7982"/>
                  </a:cubicBezTo>
                  <a:cubicBezTo>
                    <a:pt x="1460886" y="13092"/>
                    <a:pt x="1463757" y="20023"/>
                    <a:pt x="1463757" y="27251"/>
                  </a:cubicBezTo>
                  <a:lnTo>
                    <a:pt x="1463757" y="204291"/>
                  </a:lnTo>
                  <a:cubicBezTo>
                    <a:pt x="1463757" y="211518"/>
                    <a:pt x="1460886" y="218449"/>
                    <a:pt x="1455775" y="223560"/>
                  </a:cubicBezTo>
                  <a:cubicBezTo>
                    <a:pt x="1450665" y="228670"/>
                    <a:pt x="1443734" y="231541"/>
                    <a:pt x="1436506" y="231541"/>
                  </a:cubicBezTo>
                  <a:lnTo>
                    <a:pt x="27251" y="231541"/>
                  </a:lnTo>
                  <a:cubicBezTo>
                    <a:pt x="20023" y="231541"/>
                    <a:pt x="13092" y="228670"/>
                    <a:pt x="7982" y="223560"/>
                  </a:cubicBezTo>
                  <a:cubicBezTo>
                    <a:pt x="2871" y="218449"/>
                    <a:pt x="0" y="211518"/>
                    <a:pt x="0" y="204291"/>
                  </a:cubicBezTo>
                  <a:lnTo>
                    <a:pt x="0" y="27251"/>
                  </a:lnTo>
                  <a:cubicBezTo>
                    <a:pt x="0" y="20023"/>
                    <a:pt x="2871" y="13092"/>
                    <a:pt x="7982" y="7982"/>
                  </a:cubicBezTo>
                  <a:cubicBezTo>
                    <a:pt x="13092" y="2871"/>
                    <a:pt x="20023" y="0"/>
                    <a:pt x="27251" y="0"/>
                  </a:cubicBez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463757" cy="288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Secure Communication (SSH)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685431" y="2953584"/>
            <a:ext cx="4397713" cy="763977"/>
            <a:chOff x="0" y="0"/>
            <a:chExt cx="1332831" cy="23154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32831" cy="231541"/>
            </a:xfrm>
            <a:custGeom>
              <a:avLst/>
              <a:gdLst/>
              <a:ahLst/>
              <a:cxnLst/>
              <a:rect l="l" t="t" r="r" b="b"/>
              <a:pathLst>
                <a:path w="1332831" h="231541">
                  <a:moveTo>
                    <a:pt x="29928" y="0"/>
                  </a:moveTo>
                  <a:lnTo>
                    <a:pt x="1302903" y="0"/>
                  </a:lnTo>
                  <a:cubicBezTo>
                    <a:pt x="1319432" y="0"/>
                    <a:pt x="1332831" y="13399"/>
                    <a:pt x="1332831" y="29928"/>
                  </a:cubicBezTo>
                  <a:lnTo>
                    <a:pt x="1332831" y="201614"/>
                  </a:lnTo>
                  <a:cubicBezTo>
                    <a:pt x="1332831" y="218142"/>
                    <a:pt x="1319432" y="231541"/>
                    <a:pt x="1302903" y="231541"/>
                  </a:cubicBezTo>
                  <a:lnTo>
                    <a:pt x="29928" y="231541"/>
                  </a:lnTo>
                  <a:cubicBezTo>
                    <a:pt x="13399" y="231541"/>
                    <a:pt x="0" y="218142"/>
                    <a:pt x="0" y="201614"/>
                  </a:cubicBezTo>
                  <a:lnTo>
                    <a:pt x="0" y="29928"/>
                  </a:lnTo>
                  <a:cubicBezTo>
                    <a:pt x="0" y="13399"/>
                    <a:pt x="13399" y="0"/>
                    <a:pt x="29928" y="0"/>
                  </a:cubicBez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1332831" cy="288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File Synchronization (rsync)</a:t>
              </a:r>
            </a:p>
          </p:txBody>
        </p:sp>
      </p:grpSp>
      <p:sp>
        <p:nvSpPr>
          <p:cNvPr id="33" name="Freeform 33"/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 rot="-54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545FB5-6CA4-C9DA-4148-94B6913D6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0577AD7-F5DE-C319-FA83-6BC5877B1BED}"/>
              </a:ext>
            </a:extLst>
          </p:cNvPr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2AEB057-F392-A0EA-320C-CC6F8680A183}"/>
              </a:ext>
            </a:extLst>
          </p:cNvPr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89A2B75-72D5-418E-5979-4557C0302909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AE4D6B0-6379-952A-62C7-F0F72F1D9DDC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C3F0486-7096-5E6E-6520-CC7ECD90E4F6}"/>
                </a:ext>
              </a:extLst>
            </p:cNvPr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24D4675-3207-4E24-3912-98FD2CD3F52A}"/>
              </a:ext>
            </a:extLst>
          </p:cNvPr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75D779E-E944-7EB5-2C24-576E5918B956}"/>
              </a:ext>
            </a:extLst>
          </p:cNvPr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6A3A215-6BF8-83DA-02B1-94610BABD828}"/>
              </a:ext>
            </a:extLst>
          </p:cNvPr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11A1777-67AF-9DF6-A5D5-FEE8D1FD6DC9}"/>
              </a:ext>
            </a:extLst>
          </p:cNvPr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15001D2-857A-237A-9B9D-410B6C80A625}"/>
              </a:ext>
            </a:extLst>
          </p:cNvPr>
          <p:cNvGrpSpPr/>
          <p:nvPr/>
        </p:nvGrpSpPr>
        <p:grpSpPr>
          <a:xfrm>
            <a:off x="5974886" y="1534701"/>
            <a:ext cx="6198876" cy="955562"/>
            <a:chOff x="0" y="0"/>
            <a:chExt cx="2019130" cy="311251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96B90BC-1451-35A2-304C-700FBAFCCC3B}"/>
                </a:ext>
              </a:extLst>
            </p:cNvPr>
            <p:cNvSpPr/>
            <p:nvPr/>
          </p:nvSpPr>
          <p:spPr>
            <a:xfrm>
              <a:off x="0" y="0"/>
              <a:ext cx="2019130" cy="311251"/>
            </a:xfrm>
            <a:custGeom>
              <a:avLst/>
              <a:gdLst/>
              <a:ahLst/>
              <a:cxnLst/>
              <a:rect l="l" t="t" r="r" b="b"/>
              <a:pathLst>
                <a:path w="2019130" h="311251">
                  <a:moveTo>
                    <a:pt x="0" y="0"/>
                  </a:moveTo>
                  <a:lnTo>
                    <a:pt x="2019130" y="0"/>
                  </a:lnTo>
                  <a:lnTo>
                    <a:pt x="201913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2C93550-42C2-5C29-93BE-6C2119C718D5}"/>
                </a:ext>
              </a:extLst>
            </p:cNvPr>
            <p:cNvSpPr txBox="1"/>
            <p:nvPr/>
          </p:nvSpPr>
          <p:spPr>
            <a:xfrm>
              <a:off x="0" y="-76200"/>
              <a:ext cx="201913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1353C0-798A-EA23-C3B2-2CB36121362F}"/>
              </a:ext>
            </a:extLst>
          </p:cNvPr>
          <p:cNvGrpSpPr/>
          <p:nvPr/>
        </p:nvGrpSpPr>
        <p:grpSpPr>
          <a:xfrm>
            <a:off x="6114238" y="1691724"/>
            <a:ext cx="6198876" cy="955562"/>
            <a:chOff x="0" y="0"/>
            <a:chExt cx="2019130" cy="311251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045FBD3-FDDD-1840-90AC-BA3AC546EF2B}"/>
                </a:ext>
              </a:extLst>
            </p:cNvPr>
            <p:cNvSpPr/>
            <p:nvPr/>
          </p:nvSpPr>
          <p:spPr>
            <a:xfrm>
              <a:off x="0" y="0"/>
              <a:ext cx="2019130" cy="311251"/>
            </a:xfrm>
            <a:custGeom>
              <a:avLst/>
              <a:gdLst/>
              <a:ahLst/>
              <a:cxnLst/>
              <a:rect l="l" t="t" r="r" b="b"/>
              <a:pathLst>
                <a:path w="2019130" h="311251">
                  <a:moveTo>
                    <a:pt x="0" y="0"/>
                  </a:moveTo>
                  <a:lnTo>
                    <a:pt x="2019130" y="0"/>
                  </a:lnTo>
                  <a:lnTo>
                    <a:pt x="201913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22AA0C42-96FB-4A66-426B-CF439BD29386}"/>
                </a:ext>
              </a:extLst>
            </p:cNvPr>
            <p:cNvSpPr txBox="1"/>
            <p:nvPr/>
          </p:nvSpPr>
          <p:spPr>
            <a:xfrm>
              <a:off x="0" y="-76200"/>
              <a:ext cx="201913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689DD23E-B9D5-BBF3-690C-0AB0BAE1D714}"/>
              </a:ext>
            </a:extLst>
          </p:cNvPr>
          <p:cNvSpPr txBox="1"/>
          <p:nvPr/>
        </p:nvSpPr>
        <p:spPr>
          <a:xfrm>
            <a:off x="6464822" y="1803903"/>
            <a:ext cx="5358356" cy="655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835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TECHNOLOGIES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C6E2480-8E16-F1D7-6816-3A76EB8968F7}"/>
              </a:ext>
            </a:extLst>
          </p:cNvPr>
          <p:cNvSpPr txBox="1"/>
          <p:nvPr/>
        </p:nvSpPr>
        <p:spPr>
          <a:xfrm>
            <a:off x="1028700" y="252217"/>
            <a:ext cx="4586373" cy="4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 An Najah University</a:t>
            </a:r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4A57B017-B9B0-A408-C57F-468998AFA68B}"/>
              </a:ext>
            </a:extLst>
          </p:cNvPr>
          <p:cNvGrpSpPr/>
          <p:nvPr/>
        </p:nvGrpSpPr>
        <p:grpSpPr>
          <a:xfrm>
            <a:off x="3475822" y="3371776"/>
            <a:ext cx="5442983" cy="4818550"/>
            <a:chOff x="0" y="0"/>
            <a:chExt cx="1772917" cy="156952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9D43C715-D4DB-84D7-C2E5-2EF3B4D98756}"/>
                </a:ext>
              </a:extLst>
            </p:cNvPr>
            <p:cNvSpPr/>
            <p:nvPr/>
          </p:nvSpPr>
          <p:spPr>
            <a:xfrm>
              <a:off x="0" y="0"/>
              <a:ext cx="1772917" cy="1569523"/>
            </a:xfrm>
            <a:custGeom>
              <a:avLst/>
              <a:gdLst/>
              <a:ahLst/>
              <a:cxnLst/>
              <a:rect l="l" t="t" r="r" b="b"/>
              <a:pathLst>
                <a:path w="1772917" h="1569523">
                  <a:moveTo>
                    <a:pt x="42671" y="0"/>
                  </a:moveTo>
                  <a:lnTo>
                    <a:pt x="1730246" y="0"/>
                  </a:lnTo>
                  <a:cubicBezTo>
                    <a:pt x="1741563" y="0"/>
                    <a:pt x="1752416" y="4496"/>
                    <a:pt x="1760419" y="12498"/>
                  </a:cubicBezTo>
                  <a:cubicBezTo>
                    <a:pt x="1768421" y="20500"/>
                    <a:pt x="1772917" y="31354"/>
                    <a:pt x="1772917" y="42671"/>
                  </a:cubicBezTo>
                  <a:lnTo>
                    <a:pt x="1772917" y="1526852"/>
                  </a:lnTo>
                  <a:cubicBezTo>
                    <a:pt x="1772917" y="1538169"/>
                    <a:pt x="1768421" y="1549023"/>
                    <a:pt x="1760419" y="1557025"/>
                  </a:cubicBezTo>
                  <a:cubicBezTo>
                    <a:pt x="1752416" y="1565027"/>
                    <a:pt x="1741563" y="1569523"/>
                    <a:pt x="1730246" y="1569523"/>
                  </a:cubicBezTo>
                  <a:lnTo>
                    <a:pt x="42671" y="1569523"/>
                  </a:lnTo>
                  <a:cubicBezTo>
                    <a:pt x="31354" y="1569523"/>
                    <a:pt x="20500" y="1565027"/>
                    <a:pt x="12498" y="1557025"/>
                  </a:cubicBezTo>
                  <a:cubicBezTo>
                    <a:pt x="4496" y="1549023"/>
                    <a:pt x="0" y="1538169"/>
                    <a:pt x="0" y="1526852"/>
                  </a:cubicBezTo>
                  <a:lnTo>
                    <a:pt x="0" y="42671"/>
                  </a:lnTo>
                  <a:cubicBezTo>
                    <a:pt x="0" y="31354"/>
                    <a:pt x="4496" y="20500"/>
                    <a:pt x="12498" y="12498"/>
                  </a:cubicBezTo>
                  <a:cubicBezTo>
                    <a:pt x="20500" y="4496"/>
                    <a:pt x="31354" y="0"/>
                    <a:pt x="42671" y="0"/>
                  </a:cubicBezTo>
                  <a:close/>
                </a:path>
              </a:pathLst>
            </a:custGeom>
            <a:solidFill>
              <a:srgbClr val="F4ED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26397482-BBAA-A7EF-F1D4-CE7E59F916CF}"/>
                </a:ext>
              </a:extLst>
            </p:cNvPr>
            <p:cNvSpPr txBox="1"/>
            <p:nvPr/>
          </p:nvSpPr>
          <p:spPr>
            <a:xfrm>
              <a:off x="0" y="-76200"/>
              <a:ext cx="1772917" cy="1645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95564352-A2FE-DF36-3983-E5F62BDB2DD2}"/>
              </a:ext>
            </a:extLst>
          </p:cNvPr>
          <p:cNvGrpSpPr/>
          <p:nvPr/>
        </p:nvGrpSpPr>
        <p:grpSpPr>
          <a:xfrm>
            <a:off x="9330236" y="3371777"/>
            <a:ext cx="5442983" cy="4818548"/>
            <a:chOff x="0" y="-183403"/>
            <a:chExt cx="1772917" cy="1752926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CBB69B7B-A209-44AA-BC2E-9AAD462B24B5}"/>
                </a:ext>
              </a:extLst>
            </p:cNvPr>
            <p:cNvSpPr/>
            <p:nvPr/>
          </p:nvSpPr>
          <p:spPr>
            <a:xfrm>
              <a:off x="0" y="-183403"/>
              <a:ext cx="1772917" cy="1752926"/>
            </a:xfrm>
            <a:custGeom>
              <a:avLst/>
              <a:gdLst/>
              <a:ahLst/>
              <a:cxnLst/>
              <a:rect l="l" t="t" r="r" b="b"/>
              <a:pathLst>
                <a:path w="1772917" h="1569523">
                  <a:moveTo>
                    <a:pt x="42671" y="0"/>
                  </a:moveTo>
                  <a:lnTo>
                    <a:pt x="1730246" y="0"/>
                  </a:lnTo>
                  <a:cubicBezTo>
                    <a:pt x="1741563" y="0"/>
                    <a:pt x="1752416" y="4496"/>
                    <a:pt x="1760419" y="12498"/>
                  </a:cubicBezTo>
                  <a:cubicBezTo>
                    <a:pt x="1768421" y="20500"/>
                    <a:pt x="1772917" y="31354"/>
                    <a:pt x="1772917" y="42671"/>
                  </a:cubicBezTo>
                  <a:lnTo>
                    <a:pt x="1772917" y="1526852"/>
                  </a:lnTo>
                  <a:cubicBezTo>
                    <a:pt x="1772917" y="1538169"/>
                    <a:pt x="1768421" y="1549023"/>
                    <a:pt x="1760419" y="1557025"/>
                  </a:cubicBezTo>
                  <a:cubicBezTo>
                    <a:pt x="1752416" y="1565027"/>
                    <a:pt x="1741563" y="1569523"/>
                    <a:pt x="1730246" y="1569523"/>
                  </a:cubicBezTo>
                  <a:lnTo>
                    <a:pt x="42671" y="1569523"/>
                  </a:lnTo>
                  <a:cubicBezTo>
                    <a:pt x="31354" y="1569523"/>
                    <a:pt x="20500" y="1565027"/>
                    <a:pt x="12498" y="1557025"/>
                  </a:cubicBezTo>
                  <a:cubicBezTo>
                    <a:pt x="4496" y="1549023"/>
                    <a:pt x="0" y="1538169"/>
                    <a:pt x="0" y="1526852"/>
                  </a:cubicBezTo>
                  <a:lnTo>
                    <a:pt x="0" y="42671"/>
                  </a:lnTo>
                  <a:cubicBezTo>
                    <a:pt x="0" y="31354"/>
                    <a:pt x="4496" y="20500"/>
                    <a:pt x="12498" y="12498"/>
                  </a:cubicBezTo>
                  <a:cubicBezTo>
                    <a:pt x="20500" y="4496"/>
                    <a:pt x="31354" y="0"/>
                    <a:pt x="42671" y="0"/>
                  </a:cubicBezTo>
                  <a:close/>
                </a:path>
              </a:pathLst>
            </a:custGeom>
            <a:solidFill>
              <a:srgbClr val="F4EDFB"/>
            </a:solidFill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ar-SA" sz="2800" dirty="0"/>
            </a:p>
            <a:p>
              <a:pPr>
                <a:lnSpc>
                  <a:spcPct val="150000"/>
                </a:lnSpc>
              </a:pPr>
              <a:r>
                <a:rPr lang="en-US" sz="2800" dirty="0"/>
                <a:t>An agent is a program that runs on each node and performs tasks automatically like backup and synchronization.</a:t>
              </a:r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09D95BE5-38DA-4235-170B-37BFEA8F1249}"/>
                </a:ext>
              </a:extLst>
            </p:cNvPr>
            <p:cNvSpPr txBox="1"/>
            <p:nvPr/>
          </p:nvSpPr>
          <p:spPr>
            <a:xfrm>
              <a:off x="0" y="-76200"/>
              <a:ext cx="1772917" cy="1645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>
            <a:extLst>
              <a:ext uri="{FF2B5EF4-FFF2-40B4-BE49-F238E27FC236}">
                <a16:creationId xmlns:a16="http://schemas.microsoft.com/office/drawing/2014/main" id="{4D3EFA0D-C68C-C5A5-1071-B58DA9BDBC36}"/>
              </a:ext>
            </a:extLst>
          </p:cNvPr>
          <p:cNvSpPr txBox="1"/>
          <p:nvPr/>
        </p:nvSpPr>
        <p:spPr>
          <a:xfrm>
            <a:off x="3875059" y="3966709"/>
            <a:ext cx="4644509" cy="3303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An operating system used to run the nodes and manage system operations and scripts.</a:t>
            </a:r>
          </a:p>
          <a:p>
            <a:pPr algn="ctr">
              <a:lnSpc>
                <a:spcPct val="200000"/>
              </a:lnSpc>
            </a:pPr>
            <a:endParaRPr lang="en-US" sz="2799" dirty="0">
              <a:solidFill>
                <a:srgbClr val="000000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627EF81F-9D8B-1925-B12B-5DDF0F6929E4}"/>
              </a:ext>
            </a:extLst>
          </p:cNvPr>
          <p:cNvGrpSpPr/>
          <p:nvPr/>
        </p:nvGrpSpPr>
        <p:grpSpPr>
          <a:xfrm>
            <a:off x="3582345" y="2949510"/>
            <a:ext cx="4829707" cy="768051"/>
            <a:chOff x="0" y="0"/>
            <a:chExt cx="1463757" cy="231541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1E17655B-98A9-1007-F784-53CB40E8696E}"/>
                </a:ext>
              </a:extLst>
            </p:cNvPr>
            <p:cNvSpPr/>
            <p:nvPr/>
          </p:nvSpPr>
          <p:spPr>
            <a:xfrm>
              <a:off x="0" y="0"/>
              <a:ext cx="1463757" cy="231541"/>
            </a:xfrm>
            <a:custGeom>
              <a:avLst/>
              <a:gdLst/>
              <a:ahLst/>
              <a:cxnLst/>
              <a:rect l="l" t="t" r="r" b="b"/>
              <a:pathLst>
                <a:path w="1463757" h="231541">
                  <a:moveTo>
                    <a:pt x="27251" y="0"/>
                  </a:moveTo>
                  <a:lnTo>
                    <a:pt x="1436506" y="0"/>
                  </a:lnTo>
                  <a:cubicBezTo>
                    <a:pt x="1443734" y="0"/>
                    <a:pt x="1450665" y="2871"/>
                    <a:pt x="1455775" y="7982"/>
                  </a:cubicBezTo>
                  <a:cubicBezTo>
                    <a:pt x="1460886" y="13092"/>
                    <a:pt x="1463757" y="20023"/>
                    <a:pt x="1463757" y="27251"/>
                  </a:cubicBezTo>
                  <a:lnTo>
                    <a:pt x="1463757" y="204291"/>
                  </a:lnTo>
                  <a:cubicBezTo>
                    <a:pt x="1463757" y="211518"/>
                    <a:pt x="1460886" y="218449"/>
                    <a:pt x="1455775" y="223560"/>
                  </a:cubicBezTo>
                  <a:cubicBezTo>
                    <a:pt x="1450665" y="228670"/>
                    <a:pt x="1443734" y="231541"/>
                    <a:pt x="1436506" y="231541"/>
                  </a:cubicBezTo>
                  <a:lnTo>
                    <a:pt x="27251" y="231541"/>
                  </a:lnTo>
                  <a:cubicBezTo>
                    <a:pt x="20023" y="231541"/>
                    <a:pt x="13092" y="228670"/>
                    <a:pt x="7982" y="223560"/>
                  </a:cubicBezTo>
                  <a:cubicBezTo>
                    <a:pt x="2871" y="218449"/>
                    <a:pt x="0" y="211518"/>
                    <a:pt x="0" y="204291"/>
                  </a:cubicBezTo>
                  <a:lnTo>
                    <a:pt x="0" y="27251"/>
                  </a:lnTo>
                  <a:cubicBezTo>
                    <a:pt x="0" y="20023"/>
                    <a:pt x="2871" y="13092"/>
                    <a:pt x="7982" y="7982"/>
                  </a:cubicBezTo>
                  <a:cubicBezTo>
                    <a:pt x="13092" y="2871"/>
                    <a:pt x="20023" y="0"/>
                    <a:pt x="27251" y="0"/>
                  </a:cubicBez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010308BF-219E-FCD7-66BC-F0FCCA159387}"/>
                </a:ext>
              </a:extLst>
            </p:cNvPr>
            <p:cNvSpPr txBox="1"/>
            <p:nvPr/>
          </p:nvSpPr>
          <p:spPr>
            <a:xfrm>
              <a:off x="0" y="-57150"/>
              <a:ext cx="1463757" cy="288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800" dirty="0">
                  <a:latin typeface="Amasis MT Pro Black" panose="02040A04050005020304" pitchFamily="18" charset="0"/>
                  <a:cs typeface="Aharoni" panose="02010803020104030203" pitchFamily="2" charset="-79"/>
                </a:rPr>
                <a:t>Ubuntu Linux</a:t>
              </a:r>
              <a:endParaRPr lang="en-US" sz="2700" dirty="0">
                <a:solidFill>
                  <a:srgbClr val="000000"/>
                </a:solidFill>
                <a:latin typeface="Amasis MT Pro Black" panose="02040A04050005020304" pitchFamily="18" charset="0"/>
                <a:ea typeface="Norwester"/>
                <a:cs typeface="Aharoni" panose="02010803020104030203" pitchFamily="2" charset="-79"/>
                <a:sym typeface="Norwester"/>
              </a:endParaRPr>
            </a:p>
          </p:txBody>
        </p:sp>
      </p:grpSp>
      <p:grpSp>
        <p:nvGrpSpPr>
          <p:cNvPr id="30" name="Group 30">
            <a:extLst>
              <a:ext uri="{FF2B5EF4-FFF2-40B4-BE49-F238E27FC236}">
                <a16:creationId xmlns:a16="http://schemas.microsoft.com/office/drawing/2014/main" id="{B8637683-1327-91BD-50F7-78B7A57015DF}"/>
              </a:ext>
            </a:extLst>
          </p:cNvPr>
          <p:cNvGrpSpPr/>
          <p:nvPr/>
        </p:nvGrpSpPr>
        <p:grpSpPr>
          <a:xfrm>
            <a:off x="9685431" y="2765016"/>
            <a:ext cx="4829707" cy="952545"/>
            <a:chOff x="0" y="-57150"/>
            <a:chExt cx="1463757" cy="288691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BA335D0D-3495-2FF6-A819-5B38C8BC470A}"/>
                </a:ext>
              </a:extLst>
            </p:cNvPr>
            <p:cNvSpPr/>
            <p:nvPr/>
          </p:nvSpPr>
          <p:spPr>
            <a:xfrm>
              <a:off x="0" y="-36916"/>
              <a:ext cx="1332831" cy="268457"/>
            </a:xfrm>
            <a:custGeom>
              <a:avLst/>
              <a:gdLst/>
              <a:ahLst/>
              <a:cxnLst/>
              <a:rect l="l" t="t" r="r" b="b"/>
              <a:pathLst>
                <a:path w="1332831" h="231541">
                  <a:moveTo>
                    <a:pt x="29928" y="0"/>
                  </a:moveTo>
                  <a:lnTo>
                    <a:pt x="1302903" y="0"/>
                  </a:lnTo>
                  <a:cubicBezTo>
                    <a:pt x="1319432" y="0"/>
                    <a:pt x="1332831" y="13399"/>
                    <a:pt x="1332831" y="29928"/>
                  </a:cubicBezTo>
                  <a:lnTo>
                    <a:pt x="1332831" y="201614"/>
                  </a:lnTo>
                  <a:cubicBezTo>
                    <a:pt x="1332831" y="218142"/>
                    <a:pt x="1319432" y="231541"/>
                    <a:pt x="1302903" y="231541"/>
                  </a:cubicBezTo>
                  <a:lnTo>
                    <a:pt x="29928" y="231541"/>
                  </a:lnTo>
                  <a:cubicBezTo>
                    <a:pt x="13399" y="231541"/>
                    <a:pt x="0" y="218142"/>
                    <a:pt x="0" y="201614"/>
                  </a:cubicBezTo>
                  <a:lnTo>
                    <a:pt x="0" y="29928"/>
                  </a:lnTo>
                  <a:cubicBezTo>
                    <a:pt x="0" y="13399"/>
                    <a:pt x="13399" y="0"/>
                    <a:pt x="29928" y="0"/>
                  </a:cubicBez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pPr algn="ctr"/>
              <a:r>
                <a:rPr lang="en-US" sz="3200" b="1" dirty="0"/>
                <a:t>Agents </a:t>
              </a:r>
              <a:endParaRPr lang="en-US" sz="3200" b="1" dirty="0">
                <a:latin typeface="Amasis MT Pro Black" panose="02040A04050005020304" pitchFamily="18" charset="0"/>
              </a:endParaRPr>
            </a:p>
          </p:txBody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81650603-EA10-8001-5DE2-9166A54E1A9A}"/>
                </a:ext>
              </a:extLst>
            </p:cNvPr>
            <p:cNvSpPr txBox="1"/>
            <p:nvPr/>
          </p:nvSpPr>
          <p:spPr>
            <a:xfrm>
              <a:off x="0" y="-57150"/>
              <a:ext cx="1463757" cy="288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endParaRPr lang="ar-SA" sz="2800" dirty="0">
                <a:latin typeface="Amasis MT Pro Black" panose="02040A04050005020304" pitchFamily="18" charset="0"/>
              </a:endParaRPr>
            </a:p>
          </p:txBody>
        </p:sp>
      </p:grpSp>
      <p:sp>
        <p:nvSpPr>
          <p:cNvPr id="33" name="Freeform 33">
            <a:extLst>
              <a:ext uri="{FF2B5EF4-FFF2-40B4-BE49-F238E27FC236}">
                <a16:creationId xmlns:a16="http://schemas.microsoft.com/office/drawing/2014/main" id="{6FC8659D-E099-3B87-D06B-BD6D82E0F5F3}"/>
              </a:ext>
            </a:extLst>
          </p:cNvPr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0297D151-376F-E050-E992-850157EC6F67}"/>
              </a:ext>
            </a:extLst>
          </p:cNvPr>
          <p:cNvSpPr/>
          <p:nvPr/>
        </p:nvSpPr>
        <p:spPr>
          <a:xfrm rot="-54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684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3681FC-7FF3-D3BD-94C4-2F7999CE6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D017211-B1D3-F088-C51D-45E7DAFA658D}"/>
              </a:ext>
            </a:extLst>
          </p:cNvPr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69B7436-1DCE-5E81-2212-197846619794}"/>
              </a:ext>
            </a:extLst>
          </p:cNvPr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AF99744-128B-951B-1C93-E2351576742A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0736A3A-CC83-FF0C-99BB-EF57D1C9E1B7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D00D89C-66A2-B70F-7FCC-590D4B5D794E}"/>
                </a:ext>
              </a:extLst>
            </p:cNvPr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C5D0897-CF14-8214-323B-1E6EEE03C219}"/>
              </a:ext>
            </a:extLst>
          </p:cNvPr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78BBD1A-F297-4D75-90A4-593924212213}"/>
              </a:ext>
            </a:extLst>
          </p:cNvPr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EB69A3E-3FAF-6E38-3288-E394F0C63E51}"/>
              </a:ext>
            </a:extLst>
          </p:cNvPr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E03A4F4-6C8D-8CD8-921F-A09928E93CB5}"/>
              </a:ext>
            </a:extLst>
          </p:cNvPr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279F095B-F8AF-3C01-F78D-C73069FA64C6}"/>
              </a:ext>
            </a:extLst>
          </p:cNvPr>
          <p:cNvGrpSpPr/>
          <p:nvPr/>
        </p:nvGrpSpPr>
        <p:grpSpPr>
          <a:xfrm>
            <a:off x="5974886" y="1534701"/>
            <a:ext cx="6198876" cy="955562"/>
            <a:chOff x="0" y="0"/>
            <a:chExt cx="2019130" cy="311251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BAF7930-097B-A3A0-4677-BB50E8896F9A}"/>
                </a:ext>
              </a:extLst>
            </p:cNvPr>
            <p:cNvSpPr/>
            <p:nvPr/>
          </p:nvSpPr>
          <p:spPr>
            <a:xfrm>
              <a:off x="0" y="0"/>
              <a:ext cx="2019130" cy="311251"/>
            </a:xfrm>
            <a:custGeom>
              <a:avLst/>
              <a:gdLst/>
              <a:ahLst/>
              <a:cxnLst/>
              <a:rect l="l" t="t" r="r" b="b"/>
              <a:pathLst>
                <a:path w="2019130" h="311251">
                  <a:moveTo>
                    <a:pt x="0" y="0"/>
                  </a:moveTo>
                  <a:lnTo>
                    <a:pt x="2019130" y="0"/>
                  </a:lnTo>
                  <a:lnTo>
                    <a:pt x="201913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6BB3C401-63B0-D62E-506D-BEA791CCD5BF}"/>
                </a:ext>
              </a:extLst>
            </p:cNvPr>
            <p:cNvSpPr txBox="1"/>
            <p:nvPr/>
          </p:nvSpPr>
          <p:spPr>
            <a:xfrm>
              <a:off x="0" y="-76200"/>
              <a:ext cx="201913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02E45E59-0B6E-4004-F70B-5E9EFD83DBD9}"/>
              </a:ext>
            </a:extLst>
          </p:cNvPr>
          <p:cNvGrpSpPr/>
          <p:nvPr/>
        </p:nvGrpSpPr>
        <p:grpSpPr>
          <a:xfrm>
            <a:off x="6114238" y="1691724"/>
            <a:ext cx="6198876" cy="955562"/>
            <a:chOff x="0" y="0"/>
            <a:chExt cx="2019130" cy="311251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844CDDB1-02A4-8583-19BB-D2F2D7D53018}"/>
                </a:ext>
              </a:extLst>
            </p:cNvPr>
            <p:cNvSpPr/>
            <p:nvPr/>
          </p:nvSpPr>
          <p:spPr>
            <a:xfrm>
              <a:off x="0" y="0"/>
              <a:ext cx="2019130" cy="311251"/>
            </a:xfrm>
            <a:custGeom>
              <a:avLst/>
              <a:gdLst/>
              <a:ahLst/>
              <a:cxnLst/>
              <a:rect l="l" t="t" r="r" b="b"/>
              <a:pathLst>
                <a:path w="2019130" h="311251">
                  <a:moveTo>
                    <a:pt x="0" y="0"/>
                  </a:moveTo>
                  <a:lnTo>
                    <a:pt x="2019130" y="0"/>
                  </a:lnTo>
                  <a:lnTo>
                    <a:pt x="201913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95DD29C7-0DA4-90B7-C3CF-008AA3B853D7}"/>
                </a:ext>
              </a:extLst>
            </p:cNvPr>
            <p:cNvSpPr txBox="1"/>
            <p:nvPr/>
          </p:nvSpPr>
          <p:spPr>
            <a:xfrm>
              <a:off x="0" y="-76200"/>
              <a:ext cx="201913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A771B119-8A6C-C101-0FEC-D4435D99E918}"/>
              </a:ext>
            </a:extLst>
          </p:cNvPr>
          <p:cNvSpPr txBox="1"/>
          <p:nvPr/>
        </p:nvSpPr>
        <p:spPr>
          <a:xfrm>
            <a:off x="6464822" y="1803903"/>
            <a:ext cx="5358356" cy="655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835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TECHNOLOGIES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B0614A4-9AB2-49D9-91B0-DD14C2F845EF}"/>
              </a:ext>
            </a:extLst>
          </p:cNvPr>
          <p:cNvSpPr txBox="1"/>
          <p:nvPr/>
        </p:nvSpPr>
        <p:spPr>
          <a:xfrm>
            <a:off x="1028700" y="252217"/>
            <a:ext cx="4586373" cy="4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 An Najah University</a:t>
            </a:r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96223DD-39BE-76B2-6A66-B8EA50AAC6B9}"/>
              </a:ext>
            </a:extLst>
          </p:cNvPr>
          <p:cNvGrpSpPr/>
          <p:nvPr/>
        </p:nvGrpSpPr>
        <p:grpSpPr>
          <a:xfrm>
            <a:off x="3475822" y="3371776"/>
            <a:ext cx="5442983" cy="4818550"/>
            <a:chOff x="0" y="0"/>
            <a:chExt cx="1772917" cy="156952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6F48E19-FDFD-8FAD-C775-BCF30C755F95}"/>
                </a:ext>
              </a:extLst>
            </p:cNvPr>
            <p:cNvSpPr/>
            <p:nvPr/>
          </p:nvSpPr>
          <p:spPr>
            <a:xfrm>
              <a:off x="0" y="0"/>
              <a:ext cx="1772917" cy="1569523"/>
            </a:xfrm>
            <a:custGeom>
              <a:avLst/>
              <a:gdLst/>
              <a:ahLst/>
              <a:cxnLst/>
              <a:rect l="l" t="t" r="r" b="b"/>
              <a:pathLst>
                <a:path w="1772917" h="1569523">
                  <a:moveTo>
                    <a:pt x="42671" y="0"/>
                  </a:moveTo>
                  <a:lnTo>
                    <a:pt x="1730246" y="0"/>
                  </a:lnTo>
                  <a:cubicBezTo>
                    <a:pt x="1741563" y="0"/>
                    <a:pt x="1752416" y="4496"/>
                    <a:pt x="1760419" y="12498"/>
                  </a:cubicBezTo>
                  <a:cubicBezTo>
                    <a:pt x="1768421" y="20500"/>
                    <a:pt x="1772917" y="31354"/>
                    <a:pt x="1772917" y="42671"/>
                  </a:cubicBezTo>
                  <a:lnTo>
                    <a:pt x="1772917" y="1526852"/>
                  </a:lnTo>
                  <a:cubicBezTo>
                    <a:pt x="1772917" y="1538169"/>
                    <a:pt x="1768421" y="1549023"/>
                    <a:pt x="1760419" y="1557025"/>
                  </a:cubicBezTo>
                  <a:cubicBezTo>
                    <a:pt x="1752416" y="1565027"/>
                    <a:pt x="1741563" y="1569523"/>
                    <a:pt x="1730246" y="1569523"/>
                  </a:cubicBezTo>
                  <a:lnTo>
                    <a:pt x="42671" y="1569523"/>
                  </a:lnTo>
                  <a:cubicBezTo>
                    <a:pt x="31354" y="1569523"/>
                    <a:pt x="20500" y="1565027"/>
                    <a:pt x="12498" y="1557025"/>
                  </a:cubicBezTo>
                  <a:cubicBezTo>
                    <a:pt x="4496" y="1549023"/>
                    <a:pt x="0" y="1538169"/>
                    <a:pt x="0" y="1526852"/>
                  </a:cubicBezTo>
                  <a:lnTo>
                    <a:pt x="0" y="42671"/>
                  </a:lnTo>
                  <a:cubicBezTo>
                    <a:pt x="0" y="31354"/>
                    <a:pt x="4496" y="20500"/>
                    <a:pt x="12498" y="12498"/>
                  </a:cubicBezTo>
                  <a:cubicBezTo>
                    <a:pt x="20500" y="4496"/>
                    <a:pt x="31354" y="0"/>
                    <a:pt x="42671" y="0"/>
                  </a:cubicBezTo>
                  <a:close/>
                </a:path>
              </a:pathLst>
            </a:custGeom>
            <a:solidFill>
              <a:srgbClr val="F4ED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211E47DD-D5ED-D9D7-1D5F-E1EBE160C159}"/>
                </a:ext>
              </a:extLst>
            </p:cNvPr>
            <p:cNvSpPr txBox="1"/>
            <p:nvPr/>
          </p:nvSpPr>
          <p:spPr>
            <a:xfrm>
              <a:off x="0" y="-76200"/>
              <a:ext cx="1772917" cy="1645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991C48C1-55D6-1FAA-94F2-694AF7B525C2}"/>
              </a:ext>
            </a:extLst>
          </p:cNvPr>
          <p:cNvGrpSpPr/>
          <p:nvPr/>
        </p:nvGrpSpPr>
        <p:grpSpPr>
          <a:xfrm>
            <a:off x="9330236" y="3371776"/>
            <a:ext cx="5442983" cy="4818550"/>
            <a:chOff x="0" y="0"/>
            <a:chExt cx="1772917" cy="156952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C62B4A1F-013F-04C0-59E8-88651CBFB4B3}"/>
                </a:ext>
              </a:extLst>
            </p:cNvPr>
            <p:cNvSpPr/>
            <p:nvPr/>
          </p:nvSpPr>
          <p:spPr>
            <a:xfrm>
              <a:off x="0" y="0"/>
              <a:ext cx="1772917" cy="1569523"/>
            </a:xfrm>
            <a:custGeom>
              <a:avLst/>
              <a:gdLst/>
              <a:ahLst/>
              <a:cxnLst/>
              <a:rect l="l" t="t" r="r" b="b"/>
              <a:pathLst>
                <a:path w="1772917" h="1569523">
                  <a:moveTo>
                    <a:pt x="42671" y="0"/>
                  </a:moveTo>
                  <a:lnTo>
                    <a:pt x="1730246" y="0"/>
                  </a:lnTo>
                  <a:cubicBezTo>
                    <a:pt x="1741563" y="0"/>
                    <a:pt x="1752416" y="4496"/>
                    <a:pt x="1760419" y="12498"/>
                  </a:cubicBezTo>
                  <a:cubicBezTo>
                    <a:pt x="1768421" y="20500"/>
                    <a:pt x="1772917" y="31354"/>
                    <a:pt x="1772917" y="42671"/>
                  </a:cubicBezTo>
                  <a:lnTo>
                    <a:pt x="1772917" y="1526852"/>
                  </a:lnTo>
                  <a:cubicBezTo>
                    <a:pt x="1772917" y="1538169"/>
                    <a:pt x="1768421" y="1549023"/>
                    <a:pt x="1760419" y="1557025"/>
                  </a:cubicBezTo>
                  <a:cubicBezTo>
                    <a:pt x="1752416" y="1565027"/>
                    <a:pt x="1741563" y="1569523"/>
                    <a:pt x="1730246" y="1569523"/>
                  </a:cubicBezTo>
                  <a:lnTo>
                    <a:pt x="42671" y="1569523"/>
                  </a:lnTo>
                  <a:cubicBezTo>
                    <a:pt x="31354" y="1569523"/>
                    <a:pt x="20500" y="1565027"/>
                    <a:pt x="12498" y="1557025"/>
                  </a:cubicBezTo>
                  <a:cubicBezTo>
                    <a:pt x="4496" y="1549023"/>
                    <a:pt x="0" y="1538169"/>
                    <a:pt x="0" y="1526852"/>
                  </a:cubicBezTo>
                  <a:lnTo>
                    <a:pt x="0" y="42671"/>
                  </a:lnTo>
                  <a:cubicBezTo>
                    <a:pt x="0" y="31354"/>
                    <a:pt x="4496" y="20500"/>
                    <a:pt x="12498" y="12498"/>
                  </a:cubicBezTo>
                  <a:cubicBezTo>
                    <a:pt x="20500" y="4496"/>
                    <a:pt x="31354" y="0"/>
                    <a:pt x="42671" y="0"/>
                  </a:cubicBezTo>
                  <a:close/>
                </a:path>
              </a:pathLst>
            </a:custGeom>
            <a:solidFill>
              <a:srgbClr val="F4ED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A16AA78-CF19-59E0-52E9-285C2E0C4E50}"/>
                </a:ext>
              </a:extLst>
            </p:cNvPr>
            <p:cNvSpPr txBox="1"/>
            <p:nvPr/>
          </p:nvSpPr>
          <p:spPr>
            <a:xfrm>
              <a:off x="0" y="-76200"/>
              <a:ext cx="1772917" cy="1645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>
            <a:extLst>
              <a:ext uri="{FF2B5EF4-FFF2-40B4-BE49-F238E27FC236}">
                <a16:creationId xmlns:a16="http://schemas.microsoft.com/office/drawing/2014/main" id="{236ADDA5-BFF7-7009-CA7D-9C51975E05A5}"/>
              </a:ext>
            </a:extLst>
          </p:cNvPr>
          <p:cNvSpPr txBox="1"/>
          <p:nvPr/>
        </p:nvSpPr>
        <p:spPr>
          <a:xfrm>
            <a:off x="3875059" y="3966709"/>
            <a:ext cx="4644509" cy="3303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Used to automate backup, restore, and synchronization tasks directly on the system.</a:t>
            </a:r>
          </a:p>
          <a:p>
            <a:pPr algn="ctr">
              <a:lnSpc>
                <a:spcPct val="200000"/>
              </a:lnSpc>
            </a:pPr>
            <a:endParaRPr lang="en-US" sz="2799" dirty="0">
              <a:solidFill>
                <a:srgbClr val="000000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A3B6C58-9845-3B4F-6527-461F9F01A9EC}"/>
              </a:ext>
            </a:extLst>
          </p:cNvPr>
          <p:cNvSpPr txBox="1"/>
          <p:nvPr/>
        </p:nvSpPr>
        <p:spPr>
          <a:xfrm>
            <a:off x="9416017" y="3771900"/>
            <a:ext cx="5442983" cy="3326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used to create and run multiple virtual machines on a single physical device, allowing us to simulate a distributed system environment.</a:t>
            </a:r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0AA98112-D70A-1AFB-A8E5-0F72186E58DA}"/>
              </a:ext>
            </a:extLst>
          </p:cNvPr>
          <p:cNvGrpSpPr/>
          <p:nvPr/>
        </p:nvGrpSpPr>
        <p:grpSpPr>
          <a:xfrm>
            <a:off x="3582345" y="2949510"/>
            <a:ext cx="4829707" cy="768051"/>
            <a:chOff x="0" y="0"/>
            <a:chExt cx="1463757" cy="231541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91A89873-B6F5-5A12-D37B-FCA75EEFE0C9}"/>
                </a:ext>
              </a:extLst>
            </p:cNvPr>
            <p:cNvSpPr/>
            <p:nvPr/>
          </p:nvSpPr>
          <p:spPr>
            <a:xfrm>
              <a:off x="0" y="0"/>
              <a:ext cx="1463757" cy="231541"/>
            </a:xfrm>
            <a:custGeom>
              <a:avLst/>
              <a:gdLst/>
              <a:ahLst/>
              <a:cxnLst/>
              <a:rect l="l" t="t" r="r" b="b"/>
              <a:pathLst>
                <a:path w="1463757" h="231541">
                  <a:moveTo>
                    <a:pt x="27251" y="0"/>
                  </a:moveTo>
                  <a:lnTo>
                    <a:pt x="1436506" y="0"/>
                  </a:lnTo>
                  <a:cubicBezTo>
                    <a:pt x="1443734" y="0"/>
                    <a:pt x="1450665" y="2871"/>
                    <a:pt x="1455775" y="7982"/>
                  </a:cubicBezTo>
                  <a:cubicBezTo>
                    <a:pt x="1460886" y="13092"/>
                    <a:pt x="1463757" y="20023"/>
                    <a:pt x="1463757" y="27251"/>
                  </a:cubicBezTo>
                  <a:lnTo>
                    <a:pt x="1463757" y="204291"/>
                  </a:lnTo>
                  <a:cubicBezTo>
                    <a:pt x="1463757" y="211518"/>
                    <a:pt x="1460886" y="218449"/>
                    <a:pt x="1455775" y="223560"/>
                  </a:cubicBezTo>
                  <a:cubicBezTo>
                    <a:pt x="1450665" y="228670"/>
                    <a:pt x="1443734" y="231541"/>
                    <a:pt x="1436506" y="231541"/>
                  </a:cubicBezTo>
                  <a:lnTo>
                    <a:pt x="27251" y="231541"/>
                  </a:lnTo>
                  <a:cubicBezTo>
                    <a:pt x="20023" y="231541"/>
                    <a:pt x="13092" y="228670"/>
                    <a:pt x="7982" y="223560"/>
                  </a:cubicBezTo>
                  <a:cubicBezTo>
                    <a:pt x="2871" y="218449"/>
                    <a:pt x="0" y="211518"/>
                    <a:pt x="0" y="204291"/>
                  </a:cubicBezTo>
                  <a:lnTo>
                    <a:pt x="0" y="27251"/>
                  </a:lnTo>
                  <a:cubicBezTo>
                    <a:pt x="0" y="20023"/>
                    <a:pt x="2871" y="13092"/>
                    <a:pt x="7982" y="7982"/>
                  </a:cubicBezTo>
                  <a:cubicBezTo>
                    <a:pt x="13092" y="2871"/>
                    <a:pt x="20023" y="0"/>
                    <a:pt x="27251" y="0"/>
                  </a:cubicBez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27516F4F-AF51-A3B0-F684-DD5C19942974}"/>
                </a:ext>
              </a:extLst>
            </p:cNvPr>
            <p:cNvSpPr txBox="1"/>
            <p:nvPr/>
          </p:nvSpPr>
          <p:spPr>
            <a:xfrm>
              <a:off x="0" y="-57150"/>
              <a:ext cx="1463757" cy="288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800" dirty="0">
                  <a:latin typeface="Amasis MT Pro Black" panose="02040A04050005020304" pitchFamily="18" charset="0"/>
                </a:rPr>
                <a:t>Bash Scripting</a:t>
              </a:r>
              <a:endParaRPr lang="en-US" sz="2700" dirty="0">
                <a:solidFill>
                  <a:srgbClr val="000000"/>
                </a:solidFill>
                <a:latin typeface="Amasis MT Pro Black" panose="02040A04050005020304" pitchFamily="18" charset="0"/>
                <a:ea typeface="Norwester"/>
                <a:cs typeface="Aharoni" panose="02010803020104030203" pitchFamily="2" charset="-79"/>
                <a:sym typeface="Norwester"/>
              </a:endParaRPr>
            </a:p>
          </p:txBody>
        </p:sp>
      </p:grpSp>
      <p:grpSp>
        <p:nvGrpSpPr>
          <p:cNvPr id="30" name="Group 30">
            <a:extLst>
              <a:ext uri="{FF2B5EF4-FFF2-40B4-BE49-F238E27FC236}">
                <a16:creationId xmlns:a16="http://schemas.microsoft.com/office/drawing/2014/main" id="{2DA62EFD-23A8-00B9-5C50-7E4F8CB87B0D}"/>
              </a:ext>
            </a:extLst>
          </p:cNvPr>
          <p:cNvGrpSpPr/>
          <p:nvPr/>
        </p:nvGrpSpPr>
        <p:grpSpPr>
          <a:xfrm>
            <a:off x="9685431" y="2765016"/>
            <a:ext cx="4829707" cy="952545"/>
            <a:chOff x="0" y="-57150"/>
            <a:chExt cx="1463757" cy="288691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AA97EBAA-1AC0-98F1-1910-D558B8717BE5}"/>
                </a:ext>
              </a:extLst>
            </p:cNvPr>
            <p:cNvSpPr/>
            <p:nvPr/>
          </p:nvSpPr>
          <p:spPr>
            <a:xfrm>
              <a:off x="0" y="-36916"/>
              <a:ext cx="1332831" cy="268457"/>
            </a:xfrm>
            <a:custGeom>
              <a:avLst/>
              <a:gdLst/>
              <a:ahLst/>
              <a:cxnLst/>
              <a:rect l="l" t="t" r="r" b="b"/>
              <a:pathLst>
                <a:path w="1332831" h="231541">
                  <a:moveTo>
                    <a:pt x="29928" y="0"/>
                  </a:moveTo>
                  <a:lnTo>
                    <a:pt x="1302903" y="0"/>
                  </a:lnTo>
                  <a:cubicBezTo>
                    <a:pt x="1319432" y="0"/>
                    <a:pt x="1332831" y="13399"/>
                    <a:pt x="1332831" y="29928"/>
                  </a:cubicBezTo>
                  <a:lnTo>
                    <a:pt x="1332831" y="201614"/>
                  </a:lnTo>
                  <a:cubicBezTo>
                    <a:pt x="1332831" y="218142"/>
                    <a:pt x="1319432" y="231541"/>
                    <a:pt x="1302903" y="231541"/>
                  </a:cubicBezTo>
                  <a:lnTo>
                    <a:pt x="29928" y="231541"/>
                  </a:lnTo>
                  <a:cubicBezTo>
                    <a:pt x="13399" y="231541"/>
                    <a:pt x="0" y="218142"/>
                    <a:pt x="0" y="201614"/>
                  </a:cubicBezTo>
                  <a:lnTo>
                    <a:pt x="0" y="29928"/>
                  </a:lnTo>
                  <a:cubicBezTo>
                    <a:pt x="0" y="13399"/>
                    <a:pt x="13399" y="0"/>
                    <a:pt x="29928" y="0"/>
                  </a:cubicBez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5E0ECF4A-ADAE-7FC1-C182-30E8DCF10162}"/>
                </a:ext>
              </a:extLst>
            </p:cNvPr>
            <p:cNvSpPr txBox="1"/>
            <p:nvPr/>
          </p:nvSpPr>
          <p:spPr>
            <a:xfrm>
              <a:off x="0" y="-57150"/>
              <a:ext cx="1463757" cy="288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800" dirty="0">
                  <a:latin typeface="Amasis MT Pro Black" panose="02040A04050005020304" pitchFamily="18" charset="0"/>
                </a:rPr>
                <a:t>VirtualBox Networking</a:t>
              </a:r>
              <a:endParaRPr lang="ar-SA" sz="2800" dirty="0">
                <a:latin typeface="Amasis MT Pro Black" panose="02040A04050005020304" pitchFamily="18" charset="0"/>
              </a:endParaRPr>
            </a:p>
          </p:txBody>
        </p:sp>
      </p:grpSp>
      <p:sp>
        <p:nvSpPr>
          <p:cNvPr id="33" name="Freeform 33">
            <a:extLst>
              <a:ext uri="{FF2B5EF4-FFF2-40B4-BE49-F238E27FC236}">
                <a16:creationId xmlns:a16="http://schemas.microsoft.com/office/drawing/2014/main" id="{03F8F0A3-4EE8-2D4E-EB51-4304F798BEAA}"/>
              </a:ext>
            </a:extLst>
          </p:cNvPr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6CE1A164-ACC4-A795-DC16-CCC05B815DF6}"/>
              </a:ext>
            </a:extLst>
          </p:cNvPr>
          <p:cNvSpPr/>
          <p:nvPr/>
        </p:nvSpPr>
        <p:spPr>
          <a:xfrm rot="-54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14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6341594" y="1534701"/>
            <a:ext cx="5481584" cy="955562"/>
            <a:chOff x="0" y="0"/>
            <a:chExt cx="1785490" cy="3112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64822" y="1691724"/>
            <a:ext cx="5481584" cy="955562"/>
            <a:chOff x="0" y="0"/>
            <a:chExt cx="1785490" cy="3112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840949" y="1803903"/>
            <a:ext cx="4893851" cy="617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200" dirty="0">
                <a:latin typeface="Amasis MT Pro Black" panose="02040A04050005020304" pitchFamily="18" charset="0"/>
              </a:rPr>
              <a:t>How the System Works</a:t>
            </a:r>
            <a:endParaRPr lang="en-US" sz="3200" dirty="0">
              <a:solidFill>
                <a:srgbClr val="000000"/>
              </a:solidFill>
              <a:latin typeface="Amasis MT Pro Black" panose="02040A04050005020304" pitchFamily="18" charset="0"/>
              <a:ea typeface="Norwester"/>
              <a:cs typeface="Norwester"/>
              <a:sym typeface="Norweste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28700" y="252217"/>
            <a:ext cx="4586373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/>
              <a:t> An Najah University</a:t>
            </a:r>
            <a:endParaRPr lang="en-US" sz="4000" dirty="0">
              <a:effectLst/>
            </a:endParaRPr>
          </a:p>
        </p:txBody>
      </p:sp>
      <p:sp>
        <p:nvSpPr>
          <p:cNvPr id="20" name="Freeform 20"/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 rot="-54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2697521" y="3371776"/>
            <a:ext cx="12892957" cy="1980020"/>
            <a:chOff x="0" y="0"/>
            <a:chExt cx="4199561" cy="6449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199561" cy="644942"/>
            </a:xfrm>
            <a:custGeom>
              <a:avLst/>
              <a:gdLst/>
              <a:ahLst/>
              <a:cxnLst/>
              <a:rect l="l" t="t" r="r" b="b"/>
              <a:pathLst>
                <a:path w="4199561" h="644942">
                  <a:moveTo>
                    <a:pt x="18014" y="0"/>
                  </a:moveTo>
                  <a:lnTo>
                    <a:pt x="4181546" y="0"/>
                  </a:lnTo>
                  <a:cubicBezTo>
                    <a:pt x="4186324" y="0"/>
                    <a:pt x="4190906" y="1898"/>
                    <a:pt x="4194284" y="5276"/>
                  </a:cubicBezTo>
                  <a:cubicBezTo>
                    <a:pt x="4197663" y="8655"/>
                    <a:pt x="4199561" y="13237"/>
                    <a:pt x="4199561" y="18014"/>
                  </a:cubicBezTo>
                  <a:lnTo>
                    <a:pt x="4199561" y="626928"/>
                  </a:lnTo>
                  <a:cubicBezTo>
                    <a:pt x="4199561" y="631706"/>
                    <a:pt x="4197663" y="636288"/>
                    <a:pt x="4194284" y="639666"/>
                  </a:cubicBezTo>
                  <a:cubicBezTo>
                    <a:pt x="4190906" y="643045"/>
                    <a:pt x="4186324" y="644942"/>
                    <a:pt x="4181546" y="644942"/>
                  </a:cubicBezTo>
                  <a:lnTo>
                    <a:pt x="18014" y="644942"/>
                  </a:lnTo>
                  <a:cubicBezTo>
                    <a:pt x="13237" y="644942"/>
                    <a:pt x="8655" y="643045"/>
                    <a:pt x="5276" y="639666"/>
                  </a:cubicBezTo>
                  <a:cubicBezTo>
                    <a:pt x="1898" y="636288"/>
                    <a:pt x="0" y="631706"/>
                    <a:pt x="0" y="626928"/>
                  </a:cubicBezTo>
                  <a:lnTo>
                    <a:pt x="0" y="18014"/>
                  </a:lnTo>
                  <a:cubicBezTo>
                    <a:pt x="0" y="13237"/>
                    <a:pt x="1898" y="8655"/>
                    <a:pt x="5276" y="5276"/>
                  </a:cubicBezTo>
                  <a:cubicBezTo>
                    <a:pt x="8655" y="1898"/>
                    <a:pt x="13237" y="0"/>
                    <a:pt x="18014" y="0"/>
                  </a:cubicBezTo>
                  <a:close/>
                </a:path>
              </a:pathLst>
            </a:custGeom>
            <a:solidFill>
              <a:srgbClr val="F4ED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4199561" cy="721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697521" y="5966148"/>
            <a:ext cx="12892957" cy="1980020"/>
            <a:chOff x="0" y="0"/>
            <a:chExt cx="4199561" cy="6449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199561" cy="644942"/>
            </a:xfrm>
            <a:custGeom>
              <a:avLst/>
              <a:gdLst/>
              <a:ahLst/>
              <a:cxnLst/>
              <a:rect l="l" t="t" r="r" b="b"/>
              <a:pathLst>
                <a:path w="4199561" h="644942">
                  <a:moveTo>
                    <a:pt x="18014" y="0"/>
                  </a:moveTo>
                  <a:lnTo>
                    <a:pt x="4181546" y="0"/>
                  </a:lnTo>
                  <a:cubicBezTo>
                    <a:pt x="4186324" y="0"/>
                    <a:pt x="4190906" y="1898"/>
                    <a:pt x="4194284" y="5276"/>
                  </a:cubicBezTo>
                  <a:cubicBezTo>
                    <a:pt x="4197663" y="8655"/>
                    <a:pt x="4199561" y="13237"/>
                    <a:pt x="4199561" y="18014"/>
                  </a:cubicBezTo>
                  <a:lnTo>
                    <a:pt x="4199561" y="626928"/>
                  </a:lnTo>
                  <a:cubicBezTo>
                    <a:pt x="4199561" y="631706"/>
                    <a:pt x="4197663" y="636288"/>
                    <a:pt x="4194284" y="639666"/>
                  </a:cubicBezTo>
                  <a:cubicBezTo>
                    <a:pt x="4190906" y="643045"/>
                    <a:pt x="4186324" y="644942"/>
                    <a:pt x="4181546" y="644942"/>
                  </a:cubicBezTo>
                  <a:lnTo>
                    <a:pt x="18014" y="644942"/>
                  </a:lnTo>
                  <a:cubicBezTo>
                    <a:pt x="13237" y="644942"/>
                    <a:pt x="8655" y="643045"/>
                    <a:pt x="5276" y="639666"/>
                  </a:cubicBezTo>
                  <a:cubicBezTo>
                    <a:pt x="1898" y="636288"/>
                    <a:pt x="0" y="631706"/>
                    <a:pt x="0" y="626928"/>
                  </a:cubicBezTo>
                  <a:lnTo>
                    <a:pt x="0" y="18014"/>
                  </a:lnTo>
                  <a:cubicBezTo>
                    <a:pt x="0" y="13237"/>
                    <a:pt x="1898" y="8655"/>
                    <a:pt x="5276" y="5276"/>
                  </a:cubicBezTo>
                  <a:cubicBezTo>
                    <a:pt x="8655" y="1898"/>
                    <a:pt x="13237" y="0"/>
                    <a:pt x="18014" y="0"/>
                  </a:cubicBezTo>
                  <a:close/>
                </a:path>
              </a:pathLst>
            </a:custGeom>
            <a:solidFill>
              <a:srgbClr val="F4ED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76200"/>
              <a:ext cx="4199561" cy="721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980435" y="3829294"/>
            <a:ext cx="12327130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/>
              <a:t>User accesses node web interface </a:t>
            </a:r>
          </a:p>
          <a:p>
            <a:r>
              <a:rPr lang="en-US" sz="2800" dirty="0"/>
              <a:t>Clicks a button (Backup / Restore)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980435" y="6389063"/>
            <a:ext cx="12327130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/>
              <a:t>Agent receives the request</a:t>
            </a:r>
            <a:br>
              <a:rPr lang="en-US" sz="2800" dirty="0"/>
            </a:br>
            <a:r>
              <a:rPr lang="en-US" sz="2800" dirty="0"/>
              <a:t>Automation scripts are executed automatically</a:t>
            </a:r>
            <a:br>
              <a:rPr lang="en-US" sz="2800" dirty="0"/>
            </a:br>
            <a:r>
              <a:rPr lang="en-US" sz="2800" dirty="0"/>
              <a:t>Data is stored or synchronized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494071" y="3060188"/>
            <a:ext cx="3299858" cy="695129"/>
            <a:chOff x="0" y="0"/>
            <a:chExt cx="1000100" cy="21067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00100" cy="210675"/>
            </a:xfrm>
            <a:custGeom>
              <a:avLst/>
              <a:gdLst/>
              <a:ahLst/>
              <a:cxnLst/>
              <a:rect l="l" t="t" r="r" b="b"/>
              <a:pathLst>
                <a:path w="1000100" h="210675">
                  <a:moveTo>
                    <a:pt x="39884" y="0"/>
                  </a:moveTo>
                  <a:lnTo>
                    <a:pt x="960216" y="0"/>
                  </a:lnTo>
                  <a:cubicBezTo>
                    <a:pt x="970794" y="0"/>
                    <a:pt x="980938" y="4202"/>
                    <a:pt x="988418" y="11682"/>
                  </a:cubicBezTo>
                  <a:cubicBezTo>
                    <a:pt x="995898" y="19162"/>
                    <a:pt x="1000100" y="29306"/>
                    <a:pt x="1000100" y="39884"/>
                  </a:cubicBezTo>
                  <a:lnTo>
                    <a:pt x="1000100" y="170791"/>
                  </a:lnTo>
                  <a:cubicBezTo>
                    <a:pt x="1000100" y="181369"/>
                    <a:pt x="995898" y="191514"/>
                    <a:pt x="988418" y="198993"/>
                  </a:cubicBezTo>
                  <a:cubicBezTo>
                    <a:pt x="980938" y="206473"/>
                    <a:pt x="970794" y="210675"/>
                    <a:pt x="960216" y="210675"/>
                  </a:cubicBezTo>
                  <a:lnTo>
                    <a:pt x="39884" y="210675"/>
                  </a:lnTo>
                  <a:cubicBezTo>
                    <a:pt x="29306" y="210675"/>
                    <a:pt x="19162" y="206473"/>
                    <a:pt x="11682" y="198993"/>
                  </a:cubicBezTo>
                  <a:cubicBezTo>
                    <a:pt x="4202" y="191514"/>
                    <a:pt x="0" y="181369"/>
                    <a:pt x="0" y="170791"/>
                  </a:cubicBezTo>
                  <a:lnTo>
                    <a:pt x="0" y="39884"/>
                  </a:lnTo>
                  <a:cubicBezTo>
                    <a:pt x="0" y="29306"/>
                    <a:pt x="4202" y="19162"/>
                    <a:pt x="11682" y="11682"/>
                  </a:cubicBezTo>
                  <a:cubicBezTo>
                    <a:pt x="19162" y="4202"/>
                    <a:pt x="29306" y="0"/>
                    <a:pt x="39884" y="0"/>
                  </a:cubicBez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1000100" cy="26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700" dirty="0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Front End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494071" y="5613053"/>
            <a:ext cx="3299858" cy="695129"/>
            <a:chOff x="0" y="0"/>
            <a:chExt cx="1000100" cy="21067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00100" cy="210675"/>
            </a:xfrm>
            <a:custGeom>
              <a:avLst/>
              <a:gdLst/>
              <a:ahLst/>
              <a:cxnLst/>
              <a:rect l="l" t="t" r="r" b="b"/>
              <a:pathLst>
                <a:path w="1000100" h="210675">
                  <a:moveTo>
                    <a:pt x="39884" y="0"/>
                  </a:moveTo>
                  <a:lnTo>
                    <a:pt x="960216" y="0"/>
                  </a:lnTo>
                  <a:cubicBezTo>
                    <a:pt x="970794" y="0"/>
                    <a:pt x="980938" y="4202"/>
                    <a:pt x="988418" y="11682"/>
                  </a:cubicBezTo>
                  <a:cubicBezTo>
                    <a:pt x="995898" y="19162"/>
                    <a:pt x="1000100" y="29306"/>
                    <a:pt x="1000100" y="39884"/>
                  </a:cubicBezTo>
                  <a:lnTo>
                    <a:pt x="1000100" y="170791"/>
                  </a:lnTo>
                  <a:cubicBezTo>
                    <a:pt x="1000100" y="181369"/>
                    <a:pt x="995898" y="191514"/>
                    <a:pt x="988418" y="198993"/>
                  </a:cubicBezTo>
                  <a:cubicBezTo>
                    <a:pt x="980938" y="206473"/>
                    <a:pt x="970794" y="210675"/>
                    <a:pt x="960216" y="210675"/>
                  </a:cubicBezTo>
                  <a:lnTo>
                    <a:pt x="39884" y="210675"/>
                  </a:lnTo>
                  <a:cubicBezTo>
                    <a:pt x="29306" y="210675"/>
                    <a:pt x="19162" y="206473"/>
                    <a:pt x="11682" y="198993"/>
                  </a:cubicBezTo>
                  <a:cubicBezTo>
                    <a:pt x="4202" y="191514"/>
                    <a:pt x="0" y="181369"/>
                    <a:pt x="0" y="170791"/>
                  </a:cubicBezTo>
                  <a:lnTo>
                    <a:pt x="0" y="39884"/>
                  </a:lnTo>
                  <a:cubicBezTo>
                    <a:pt x="0" y="29306"/>
                    <a:pt x="4202" y="19162"/>
                    <a:pt x="11682" y="11682"/>
                  </a:cubicBezTo>
                  <a:cubicBezTo>
                    <a:pt x="19162" y="4202"/>
                    <a:pt x="29306" y="0"/>
                    <a:pt x="39884" y="0"/>
                  </a:cubicBez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1000100" cy="26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700" dirty="0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Back and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4E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6341594" y="1534701"/>
            <a:ext cx="5481584" cy="955562"/>
            <a:chOff x="0" y="0"/>
            <a:chExt cx="1785490" cy="3112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64822" y="1691724"/>
            <a:ext cx="5481584" cy="955562"/>
            <a:chOff x="0" y="0"/>
            <a:chExt cx="1785490" cy="3112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324600" y="1803903"/>
            <a:ext cx="5788646" cy="6419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4000" dirty="0">
                <a:latin typeface="Amasis MT Pro Black" panose="02040A04050005020304" pitchFamily="18" charset="0"/>
              </a:rPr>
              <a:t>Incremental Backup</a:t>
            </a:r>
            <a:endParaRPr lang="en-US" sz="3835" dirty="0">
              <a:solidFill>
                <a:srgbClr val="000000"/>
              </a:solidFill>
              <a:latin typeface="Amasis MT Pro Black" panose="02040A04050005020304" pitchFamily="18" charset="0"/>
              <a:ea typeface="Norwester"/>
              <a:cs typeface="Norwester"/>
              <a:sym typeface="Norweste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28700" y="252217"/>
            <a:ext cx="4586373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/>
              <a:t> An Najah University</a:t>
            </a:r>
            <a:endParaRPr lang="en-US" sz="3600" dirty="0"/>
          </a:p>
        </p:txBody>
      </p:sp>
      <p:sp>
        <p:nvSpPr>
          <p:cNvPr id="20" name="Freeform 20"/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 rot="-5400000" flipH="1">
            <a:off x="-2972370" y="219265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2209800" y="5521606"/>
            <a:ext cx="4957440" cy="1993871"/>
            <a:chOff x="-122664" y="-76200"/>
            <a:chExt cx="1430369" cy="1645723"/>
          </a:xfrm>
        </p:grpSpPr>
        <p:sp>
          <p:nvSpPr>
            <p:cNvPr id="23" name="Freeform 23"/>
            <p:cNvSpPr/>
            <p:nvPr/>
          </p:nvSpPr>
          <p:spPr>
            <a:xfrm>
              <a:off x="-122664" y="0"/>
              <a:ext cx="1307705" cy="1569523"/>
            </a:xfrm>
            <a:custGeom>
              <a:avLst/>
              <a:gdLst/>
              <a:ahLst/>
              <a:cxnLst/>
              <a:rect l="l" t="t" r="r" b="b"/>
              <a:pathLst>
                <a:path w="1307705" h="1569523">
                  <a:moveTo>
                    <a:pt x="57851" y="0"/>
                  </a:moveTo>
                  <a:lnTo>
                    <a:pt x="1249854" y="0"/>
                  </a:lnTo>
                  <a:cubicBezTo>
                    <a:pt x="1265197" y="0"/>
                    <a:pt x="1279912" y="6095"/>
                    <a:pt x="1290761" y="16944"/>
                  </a:cubicBezTo>
                  <a:cubicBezTo>
                    <a:pt x="1301610" y="27793"/>
                    <a:pt x="1307705" y="42508"/>
                    <a:pt x="1307705" y="57851"/>
                  </a:cubicBezTo>
                  <a:lnTo>
                    <a:pt x="1307705" y="1511672"/>
                  </a:lnTo>
                  <a:cubicBezTo>
                    <a:pt x="1307705" y="1527015"/>
                    <a:pt x="1301610" y="1541730"/>
                    <a:pt x="1290761" y="1552579"/>
                  </a:cubicBezTo>
                  <a:cubicBezTo>
                    <a:pt x="1279912" y="1563428"/>
                    <a:pt x="1265197" y="1569523"/>
                    <a:pt x="1249854" y="1569523"/>
                  </a:cubicBezTo>
                  <a:lnTo>
                    <a:pt x="57851" y="1569523"/>
                  </a:lnTo>
                  <a:cubicBezTo>
                    <a:pt x="42508" y="1569523"/>
                    <a:pt x="27793" y="1563428"/>
                    <a:pt x="16944" y="1552579"/>
                  </a:cubicBezTo>
                  <a:cubicBezTo>
                    <a:pt x="6095" y="1541730"/>
                    <a:pt x="0" y="1527015"/>
                    <a:pt x="0" y="1511672"/>
                  </a:cubicBezTo>
                  <a:lnTo>
                    <a:pt x="0" y="57851"/>
                  </a:lnTo>
                  <a:cubicBezTo>
                    <a:pt x="0" y="42508"/>
                    <a:pt x="6095" y="27793"/>
                    <a:pt x="16944" y="16944"/>
                  </a:cubicBezTo>
                  <a:cubicBezTo>
                    <a:pt x="27793" y="6095"/>
                    <a:pt x="42508" y="0"/>
                    <a:pt x="57851" y="0"/>
                  </a:cubicBezTo>
                  <a:close/>
                </a:path>
              </a:pathLst>
            </a:custGeom>
            <a:solidFill>
              <a:srgbClr val="F4EDFB"/>
            </a:solidFill>
          </p:spPr>
          <p:txBody>
            <a:bodyPr/>
            <a:lstStyle/>
            <a:p>
              <a:pPr algn="ctr">
                <a:lnSpc>
                  <a:spcPct val="300000"/>
                </a:lnSpc>
              </a:pPr>
              <a:r>
                <a:rPr lang="en-US" sz="2800" dirty="0"/>
                <a:t>Reduces</a:t>
              </a:r>
              <a:r>
                <a:rPr lang="ar-SA" sz="2800" dirty="0"/>
                <a:t> </a:t>
              </a:r>
              <a:r>
                <a:rPr lang="en-US" sz="2800" dirty="0"/>
                <a:t>Storage usage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1307705" cy="1645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41"/>
          <p:cNvSpPr/>
          <p:nvPr/>
        </p:nvSpPr>
        <p:spPr>
          <a:xfrm>
            <a:off x="3667340" y="3282924"/>
            <a:ext cx="10842391" cy="1429885"/>
          </a:xfrm>
          <a:custGeom>
            <a:avLst/>
            <a:gdLst/>
            <a:ahLst/>
            <a:cxnLst/>
            <a:rect l="l" t="t" r="r" b="b"/>
            <a:pathLst>
              <a:path w="674387" h="203525">
                <a:moveTo>
                  <a:pt x="59148" y="0"/>
                </a:moveTo>
                <a:lnTo>
                  <a:pt x="615240" y="0"/>
                </a:lnTo>
                <a:cubicBezTo>
                  <a:pt x="630926" y="0"/>
                  <a:pt x="645971" y="6232"/>
                  <a:pt x="657063" y="17324"/>
                </a:cubicBezTo>
                <a:cubicBezTo>
                  <a:pt x="668155" y="28416"/>
                  <a:pt x="674387" y="43461"/>
                  <a:pt x="674387" y="59148"/>
                </a:cubicBezTo>
                <a:lnTo>
                  <a:pt x="674387" y="144377"/>
                </a:lnTo>
                <a:cubicBezTo>
                  <a:pt x="674387" y="160064"/>
                  <a:pt x="668155" y="175109"/>
                  <a:pt x="657063" y="186201"/>
                </a:cubicBezTo>
                <a:cubicBezTo>
                  <a:pt x="645971" y="197293"/>
                  <a:pt x="630926" y="203525"/>
                  <a:pt x="615240" y="203525"/>
                </a:cubicBezTo>
                <a:lnTo>
                  <a:pt x="59148" y="203525"/>
                </a:lnTo>
                <a:cubicBezTo>
                  <a:pt x="43461" y="203525"/>
                  <a:pt x="28416" y="197293"/>
                  <a:pt x="17324" y="186201"/>
                </a:cubicBezTo>
                <a:cubicBezTo>
                  <a:pt x="6232" y="175109"/>
                  <a:pt x="0" y="160064"/>
                  <a:pt x="0" y="144377"/>
                </a:cubicBezTo>
                <a:lnTo>
                  <a:pt x="0" y="59148"/>
                </a:lnTo>
                <a:cubicBezTo>
                  <a:pt x="0" y="43461"/>
                  <a:pt x="6232" y="28416"/>
                  <a:pt x="17324" y="17324"/>
                </a:cubicBezTo>
                <a:cubicBezTo>
                  <a:pt x="28416" y="6232"/>
                  <a:pt x="43461" y="0"/>
                  <a:pt x="59148" y="0"/>
                </a:cubicBezTo>
                <a:close/>
              </a:path>
            </a:pathLst>
          </a:custGeom>
          <a:solidFill>
            <a:srgbClr val="E8D1FF"/>
          </a:solidFill>
        </p:spPr>
        <p:txBody>
          <a:bodyPr/>
          <a:lstStyle/>
          <a:p>
            <a:pPr lvl="1">
              <a:lnSpc>
                <a:spcPct val="200000"/>
              </a:lnSpc>
            </a:pPr>
            <a:r>
              <a:rPr lang="en-US" sz="3600" dirty="0"/>
              <a:t>Only modified or newly added files are backed up.</a:t>
            </a:r>
          </a:p>
        </p:txBody>
      </p:sp>
      <p:sp>
        <p:nvSpPr>
          <p:cNvPr id="44" name="Freeform 23">
            <a:extLst>
              <a:ext uri="{FF2B5EF4-FFF2-40B4-BE49-F238E27FC236}">
                <a16:creationId xmlns:a16="http://schemas.microsoft.com/office/drawing/2014/main" id="{4C684403-9921-9C0D-F866-7BA8161D0719}"/>
              </a:ext>
            </a:extLst>
          </p:cNvPr>
          <p:cNvSpPr/>
          <p:nvPr/>
        </p:nvSpPr>
        <p:spPr>
          <a:xfrm>
            <a:off x="7027273" y="5594160"/>
            <a:ext cx="4580268" cy="1901551"/>
          </a:xfrm>
          <a:custGeom>
            <a:avLst/>
            <a:gdLst/>
            <a:ahLst/>
            <a:cxnLst/>
            <a:rect l="l" t="t" r="r" b="b"/>
            <a:pathLst>
              <a:path w="1307705" h="1569523">
                <a:moveTo>
                  <a:pt x="57851" y="0"/>
                </a:moveTo>
                <a:lnTo>
                  <a:pt x="1249854" y="0"/>
                </a:lnTo>
                <a:cubicBezTo>
                  <a:pt x="1265197" y="0"/>
                  <a:pt x="1279912" y="6095"/>
                  <a:pt x="1290761" y="16944"/>
                </a:cubicBezTo>
                <a:cubicBezTo>
                  <a:pt x="1301610" y="27793"/>
                  <a:pt x="1307705" y="42508"/>
                  <a:pt x="1307705" y="57851"/>
                </a:cubicBezTo>
                <a:lnTo>
                  <a:pt x="1307705" y="1511672"/>
                </a:lnTo>
                <a:cubicBezTo>
                  <a:pt x="1307705" y="1527015"/>
                  <a:pt x="1301610" y="1541730"/>
                  <a:pt x="1290761" y="1552579"/>
                </a:cubicBezTo>
                <a:cubicBezTo>
                  <a:pt x="1279912" y="1563428"/>
                  <a:pt x="1265197" y="1569523"/>
                  <a:pt x="1249854" y="1569523"/>
                </a:cubicBezTo>
                <a:lnTo>
                  <a:pt x="57851" y="1569523"/>
                </a:lnTo>
                <a:cubicBezTo>
                  <a:pt x="42508" y="1569523"/>
                  <a:pt x="27793" y="1563428"/>
                  <a:pt x="16944" y="1552579"/>
                </a:cubicBezTo>
                <a:cubicBezTo>
                  <a:pt x="6095" y="1541730"/>
                  <a:pt x="0" y="1527015"/>
                  <a:pt x="0" y="1511672"/>
                </a:cubicBezTo>
                <a:lnTo>
                  <a:pt x="0" y="57851"/>
                </a:lnTo>
                <a:cubicBezTo>
                  <a:pt x="0" y="42508"/>
                  <a:pt x="6095" y="27793"/>
                  <a:pt x="16944" y="16944"/>
                </a:cubicBezTo>
                <a:cubicBezTo>
                  <a:pt x="27793" y="6095"/>
                  <a:pt x="42508" y="0"/>
                  <a:pt x="57851" y="0"/>
                </a:cubicBezTo>
                <a:close/>
              </a:path>
            </a:pathLst>
          </a:custGeom>
          <a:solidFill>
            <a:srgbClr val="F4EDFB"/>
          </a:solidFill>
        </p:spPr>
        <p:txBody>
          <a:bodyPr/>
          <a:lstStyle/>
          <a:p>
            <a:pPr algn="ctr">
              <a:lnSpc>
                <a:spcPct val="300000"/>
              </a:lnSpc>
            </a:pPr>
            <a:r>
              <a:rPr lang="en-US" sz="2800" dirty="0"/>
              <a:t>Execution time</a:t>
            </a:r>
          </a:p>
        </p:txBody>
      </p:sp>
      <p:sp>
        <p:nvSpPr>
          <p:cNvPr id="45" name="Freeform 23">
            <a:extLst>
              <a:ext uri="{FF2B5EF4-FFF2-40B4-BE49-F238E27FC236}">
                <a16:creationId xmlns:a16="http://schemas.microsoft.com/office/drawing/2014/main" id="{05BFCA40-476C-A994-B720-5908557AA234}"/>
              </a:ext>
            </a:extLst>
          </p:cNvPr>
          <p:cNvSpPr/>
          <p:nvPr/>
        </p:nvSpPr>
        <p:spPr>
          <a:xfrm>
            <a:off x="11887200" y="5600700"/>
            <a:ext cx="4700549" cy="1901551"/>
          </a:xfrm>
          <a:custGeom>
            <a:avLst/>
            <a:gdLst/>
            <a:ahLst/>
            <a:cxnLst/>
            <a:rect l="l" t="t" r="r" b="b"/>
            <a:pathLst>
              <a:path w="1307705" h="1569523">
                <a:moveTo>
                  <a:pt x="57851" y="0"/>
                </a:moveTo>
                <a:lnTo>
                  <a:pt x="1249854" y="0"/>
                </a:lnTo>
                <a:cubicBezTo>
                  <a:pt x="1265197" y="0"/>
                  <a:pt x="1279912" y="6095"/>
                  <a:pt x="1290761" y="16944"/>
                </a:cubicBezTo>
                <a:cubicBezTo>
                  <a:pt x="1301610" y="27793"/>
                  <a:pt x="1307705" y="42508"/>
                  <a:pt x="1307705" y="57851"/>
                </a:cubicBezTo>
                <a:lnTo>
                  <a:pt x="1307705" y="1511672"/>
                </a:lnTo>
                <a:cubicBezTo>
                  <a:pt x="1307705" y="1527015"/>
                  <a:pt x="1301610" y="1541730"/>
                  <a:pt x="1290761" y="1552579"/>
                </a:cubicBezTo>
                <a:cubicBezTo>
                  <a:pt x="1279912" y="1563428"/>
                  <a:pt x="1265197" y="1569523"/>
                  <a:pt x="1249854" y="1569523"/>
                </a:cubicBezTo>
                <a:lnTo>
                  <a:pt x="57851" y="1569523"/>
                </a:lnTo>
                <a:cubicBezTo>
                  <a:pt x="42508" y="1569523"/>
                  <a:pt x="27793" y="1563428"/>
                  <a:pt x="16944" y="1552579"/>
                </a:cubicBezTo>
                <a:cubicBezTo>
                  <a:pt x="6095" y="1541730"/>
                  <a:pt x="0" y="1527015"/>
                  <a:pt x="0" y="1511672"/>
                </a:cubicBezTo>
                <a:lnTo>
                  <a:pt x="0" y="57851"/>
                </a:lnTo>
                <a:cubicBezTo>
                  <a:pt x="0" y="42508"/>
                  <a:pt x="6095" y="27793"/>
                  <a:pt x="16944" y="16944"/>
                </a:cubicBezTo>
                <a:cubicBezTo>
                  <a:pt x="27793" y="6095"/>
                  <a:pt x="42508" y="0"/>
                  <a:pt x="57851" y="0"/>
                </a:cubicBezTo>
                <a:close/>
              </a:path>
            </a:pathLst>
          </a:custGeom>
          <a:solidFill>
            <a:srgbClr val="F4EDFB"/>
          </a:solidFill>
        </p:spPr>
        <p:txBody>
          <a:bodyPr/>
          <a:lstStyle/>
          <a:p>
            <a:pPr algn="ctr">
              <a:lnSpc>
                <a:spcPct val="300000"/>
              </a:lnSpc>
            </a:pPr>
            <a:r>
              <a:rPr lang="en-US" sz="2800" dirty="0"/>
              <a:t>improves system efficiency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CB56A9-4B16-5FF1-9A2D-B2E6145E0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C0A7721-A260-E913-3B2C-ABA8E1955D41}"/>
              </a:ext>
            </a:extLst>
          </p:cNvPr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2AFDA34-6C0F-BE4D-E13A-8F91ED9F10EC}"/>
              </a:ext>
            </a:extLst>
          </p:cNvPr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0A93FB4-58FA-6E2B-D843-DFB13934C94E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0DB307E-1387-2F8D-C5A9-6245FA08ED7B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DFEFE09-B21B-8F10-9FF6-01B2A77AA928}"/>
                </a:ext>
              </a:extLst>
            </p:cNvPr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710FC2D-AFBD-A609-686B-E4A91B66B34E}"/>
              </a:ext>
            </a:extLst>
          </p:cNvPr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C75BDDB-620B-D063-1959-9AFACFB149D7}"/>
              </a:ext>
            </a:extLst>
          </p:cNvPr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84F6123-0009-32FC-1F6D-E4B25E419242}"/>
              </a:ext>
            </a:extLst>
          </p:cNvPr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F675B66-B875-99FD-0387-D78ACD7DEF0E}"/>
              </a:ext>
            </a:extLst>
          </p:cNvPr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C75AA3E-5830-2430-FC9C-7916900E76E8}"/>
              </a:ext>
            </a:extLst>
          </p:cNvPr>
          <p:cNvGrpSpPr/>
          <p:nvPr/>
        </p:nvGrpSpPr>
        <p:grpSpPr>
          <a:xfrm>
            <a:off x="6481816" y="1534701"/>
            <a:ext cx="5481584" cy="955562"/>
            <a:chOff x="0" y="0"/>
            <a:chExt cx="1785490" cy="311251"/>
          </a:xfrm>
        </p:grpSpPr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D8B3086-AEC7-97B5-21D0-A696F371958F}"/>
                </a:ext>
              </a:extLst>
            </p:cNvPr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546BC5B-E2B4-9F5B-E385-142AFEEE859E}"/>
                </a:ext>
              </a:extLst>
            </p:cNvPr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BD805E4-7124-6513-BFC8-DCF2E7C00448}"/>
              </a:ext>
            </a:extLst>
          </p:cNvPr>
          <p:cNvGrpSpPr/>
          <p:nvPr/>
        </p:nvGrpSpPr>
        <p:grpSpPr>
          <a:xfrm>
            <a:off x="6464822" y="1691724"/>
            <a:ext cx="5481584" cy="955562"/>
            <a:chOff x="0" y="0"/>
            <a:chExt cx="1785490" cy="311251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B20AE18-C0ED-F916-965E-5FBC6272B9E2}"/>
                </a:ext>
              </a:extLst>
            </p:cNvPr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190DC9FE-5A33-13CC-2431-4B6E4BE70C1C}"/>
                </a:ext>
              </a:extLst>
            </p:cNvPr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09AE548D-4DAD-F1C8-A9CA-147413B6D613}"/>
              </a:ext>
            </a:extLst>
          </p:cNvPr>
          <p:cNvSpPr txBox="1"/>
          <p:nvPr/>
        </p:nvSpPr>
        <p:spPr>
          <a:xfrm>
            <a:off x="6324600" y="1803903"/>
            <a:ext cx="5788646" cy="65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4000" dirty="0">
                <a:latin typeface="Amasis MT Pro Black" panose="02040A04050005020304" pitchFamily="18" charset="0"/>
              </a:rPr>
              <a:t>Security</a:t>
            </a:r>
            <a:endParaRPr lang="en-US" sz="3835" dirty="0">
              <a:solidFill>
                <a:srgbClr val="000000"/>
              </a:solidFill>
              <a:latin typeface="Amasis MT Pro Black" panose="02040A04050005020304" pitchFamily="18" charset="0"/>
              <a:ea typeface="Norwester"/>
              <a:cs typeface="Norwester"/>
              <a:sym typeface="Norwester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72A52A0-450E-9E27-96C5-A98CBEF963BA}"/>
              </a:ext>
            </a:extLst>
          </p:cNvPr>
          <p:cNvSpPr txBox="1"/>
          <p:nvPr/>
        </p:nvSpPr>
        <p:spPr>
          <a:xfrm>
            <a:off x="1028700" y="252217"/>
            <a:ext cx="4586373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/>
              <a:t> An Najah University</a:t>
            </a:r>
            <a:endParaRPr lang="en-US" sz="3600" dirty="0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9E17B69F-5963-916B-A8EE-509198A889AA}"/>
              </a:ext>
            </a:extLst>
          </p:cNvPr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DBD29BBF-6B08-032E-8E5A-771A09344FB5}"/>
              </a:ext>
            </a:extLst>
          </p:cNvPr>
          <p:cNvSpPr/>
          <p:nvPr/>
        </p:nvSpPr>
        <p:spPr>
          <a:xfrm rot="-5400000" flipH="1">
            <a:off x="-2972370" y="219265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CA98FB7A-0D3D-437F-B7A7-EA38FFFDAFF8}"/>
              </a:ext>
            </a:extLst>
          </p:cNvPr>
          <p:cNvGrpSpPr/>
          <p:nvPr/>
        </p:nvGrpSpPr>
        <p:grpSpPr>
          <a:xfrm>
            <a:off x="2309796" y="4914900"/>
            <a:ext cx="5005404" cy="1993871"/>
            <a:chOff x="-136503" y="-76200"/>
            <a:chExt cx="1444208" cy="164572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558E1CC-DDBB-18B4-9543-CBABF266AE0A}"/>
                </a:ext>
              </a:extLst>
            </p:cNvPr>
            <p:cNvSpPr/>
            <p:nvPr/>
          </p:nvSpPr>
          <p:spPr>
            <a:xfrm>
              <a:off x="-136503" y="0"/>
              <a:ext cx="1321544" cy="1569523"/>
            </a:xfrm>
            <a:custGeom>
              <a:avLst/>
              <a:gdLst/>
              <a:ahLst/>
              <a:cxnLst/>
              <a:rect l="l" t="t" r="r" b="b"/>
              <a:pathLst>
                <a:path w="1307705" h="1569523">
                  <a:moveTo>
                    <a:pt x="57851" y="0"/>
                  </a:moveTo>
                  <a:lnTo>
                    <a:pt x="1249854" y="0"/>
                  </a:lnTo>
                  <a:cubicBezTo>
                    <a:pt x="1265197" y="0"/>
                    <a:pt x="1279912" y="6095"/>
                    <a:pt x="1290761" y="16944"/>
                  </a:cubicBezTo>
                  <a:cubicBezTo>
                    <a:pt x="1301610" y="27793"/>
                    <a:pt x="1307705" y="42508"/>
                    <a:pt x="1307705" y="57851"/>
                  </a:cubicBezTo>
                  <a:lnTo>
                    <a:pt x="1307705" y="1511672"/>
                  </a:lnTo>
                  <a:cubicBezTo>
                    <a:pt x="1307705" y="1527015"/>
                    <a:pt x="1301610" y="1541730"/>
                    <a:pt x="1290761" y="1552579"/>
                  </a:cubicBezTo>
                  <a:cubicBezTo>
                    <a:pt x="1279912" y="1563428"/>
                    <a:pt x="1265197" y="1569523"/>
                    <a:pt x="1249854" y="1569523"/>
                  </a:cubicBezTo>
                  <a:lnTo>
                    <a:pt x="57851" y="1569523"/>
                  </a:lnTo>
                  <a:cubicBezTo>
                    <a:pt x="42508" y="1569523"/>
                    <a:pt x="27793" y="1563428"/>
                    <a:pt x="16944" y="1552579"/>
                  </a:cubicBezTo>
                  <a:cubicBezTo>
                    <a:pt x="6095" y="1541730"/>
                    <a:pt x="0" y="1527015"/>
                    <a:pt x="0" y="1511672"/>
                  </a:cubicBezTo>
                  <a:lnTo>
                    <a:pt x="0" y="57851"/>
                  </a:lnTo>
                  <a:cubicBezTo>
                    <a:pt x="0" y="42508"/>
                    <a:pt x="6095" y="27793"/>
                    <a:pt x="16944" y="16944"/>
                  </a:cubicBezTo>
                  <a:cubicBezTo>
                    <a:pt x="27793" y="6095"/>
                    <a:pt x="42508" y="0"/>
                    <a:pt x="57851" y="0"/>
                  </a:cubicBezTo>
                  <a:close/>
                </a:path>
              </a:pathLst>
            </a:custGeom>
            <a:solidFill>
              <a:srgbClr val="F4EDFB"/>
            </a:solidFill>
          </p:spPr>
          <p:txBody>
            <a:bodyPr/>
            <a:lstStyle/>
            <a:p>
              <a:pPr algn="ctr">
                <a:lnSpc>
                  <a:spcPct val="150000"/>
                </a:lnSpc>
              </a:pPr>
              <a:r>
                <a:rPr lang="en-US" sz="2800" dirty="0"/>
                <a:t>SSH authentication between nodes</a:t>
              </a:r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B21CE40-D21E-F30F-46AE-5C99E56BC6DF}"/>
                </a:ext>
              </a:extLst>
            </p:cNvPr>
            <p:cNvSpPr txBox="1"/>
            <p:nvPr/>
          </p:nvSpPr>
          <p:spPr>
            <a:xfrm>
              <a:off x="0" y="-76200"/>
              <a:ext cx="1307705" cy="1645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4" name="Freeform 23">
            <a:extLst>
              <a:ext uri="{FF2B5EF4-FFF2-40B4-BE49-F238E27FC236}">
                <a16:creationId xmlns:a16="http://schemas.microsoft.com/office/drawing/2014/main" id="{00F12601-7193-0BAD-6182-20B9E6F0146C}"/>
              </a:ext>
            </a:extLst>
          </p:cNvPr>
          <p:cNvSpPr/>
          <p:nvPr/>
        </p:nvSpPr>
        <p:spPr>
          <a:xfrm>
            <a:off x="7230732" y="4987454"/>
            <a:ext cx="4580268" cy="1901551"/>
          </a:xfrm>
          <a:custGeom>
            <a:avLst/>
            <a:gdLst/>
            <a:ahLst/>
            <a:cxnLst/>
            <a:rect l="l" t="t" r="r" b="b"/>
            <a:pathLst>
              <a:path w="1307705" h="1569523">
                <a:moveTo>
                  <a:pt x="57851" y="0"/>
                </a:moveTo>
                <a:lnTo>
                  <a:pt x="1249854" y="0"/>
                </a:lnTo>
                <a:cubicBezTo>
                  <a:pt x="1265197" y="0"/>
                  <a:pt x="1279912" y="6095"/>
                  <a:pt x="1290761" y="16944"/>
                </a:cubicBezTo>
                <a:cubicBezTo>
                  <a:pt x="1301610" y="27793"/>
                  <a:pt x="1307705" y="42508"/>
                  <a:pt x="1307705" y="57851"/>
                </a:cubicBezTo>
                <a:lnTo>
                  <a:pt x="1307705" y="1511672"/>
                </a:lnTo>
                <a:cubicBezTo>
                  <a:pt x="1307705" y="1527015"/>
                  <a:pt x="1301610" y="1541730"/>
                  <a:pt x="1290761" y="1552579"/>
                </a:cubicBezTo>
                <a:cubicBezTo>
                  <a:pt x="1279912" y="1563428"/>
                  <a:pt x="1265197" y="1569523"/>
                  <a:pt x="1249854" y="1569523"/>
                </a:cubicBezTo>
                <a:lnTo>
                  <a:pt x="57851" y="1569523"/>
                </a:lnTo>
                <a:cubicBezTo>
                  <a:pt x="42508" y="1569523"/>
                  <a:pt x="27793" y="1563428"/>
                  <a:pt x="16944" y="1552579"/>
                </a:cubicBezTo>
                <a:cubicBezTo>
                  <a:pt x="6095" y="1541730"/>
                  <a:pt x="0" y="1527015"/>
                  <a:pt x="0" y="1511672"/>
                </a:cubicBezTo>
                <a:lnTo>
                  <a:pt x="0" y="57851"/>
                </a:lnTo>
                <a:cubicBezTo>
                  <a:pt x="0" y="42508"/>
                  <a:pt x="6095" y="27793"/>
                  <a:pt x="16944" y="16944"/>
                </a:cubicBezTo>
                <a:cubicBezTo>
                  <a:pt x="27793" y="6095"/>
                  <a:pt x="42508" y="0"/>
                  <a:pt x="57851" y="0"/>
                </a:cubicBezTo>
                <a:close/>
              </a:path>
            </a:pathLst>
          </a:custGeom>
          <a:solidFill>
            <a:srgbClr val="F4EDFB"/>
          </a:solidFill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2800" dirty="0"/>
              <a:t>Secure internal network communication</a:t>
            </a:r>
          </a:p>
        </p:txBody>
      </p:sp>
      <p:sp>
        <p:nvSpPr>
          <p:cNvPr id="45" name="Freeform 23">
            <a:extLst>
              <a:ext uri="{FF2B5EF4-FFF2-40B4-BE49-F238E27FC236}">
                <a16:creationId xmlns:a16="http://schemas.microsoft.com/office/drawing/2014/main" id="{C128808F-05EE-DF52-BF44-AF9E3771BA23}"/>
              </a:ext>
            </a:extLst>
          </p:cNvPr>
          <p:cNvSpPr/>
          <p:nvPr/>
        </p:nvSpPr>
        <p:spPr>
          <a:xfrm>
            <a:off x="11987251" y="4993994"/>
            <a:ext cx="4700549" cy="1901551"/>
          </a:xfrm>
          <a:custGeom>
            <a:avLst/>
            <a:gdLst/>
            <a:ahLst/>
            <a:cxnLst/>
            <a:rect l="l" t="t" r="r" b="b"/>
            <a:pathLst>
              <a:path w="1307705" h="1569523">
                <a:moveTo>
                  <a:pt x="57851" y="0"/>
                </a:moveTo>
                <a:lnTo>
                  <a:pt x="1249854" y="0"/>
                </a:lnTo>
                <a:cubicBezTo>
                  <a:pt x="1265197" y="0"/>
                  <a:pt x="1279912" y="6095"/>
                  <a:pt x="1290761" y="16944"/>
                </a:cubicBezTo>
                <a:cubicBezTo>
                  <a:pt x="1301610" y="27793"/>
                  <a:pt x="1307705" y="42508"/>
                  <a:pt x="1307705" y="57851"/>
                </a:cubicBezTo>
                <a:lnTo>
                  <a:pt x="1307705" y="1511672"/>
                </a:lnTo>
                <a:cubicBezTo>
                  <a:pt x="1307705" y="1527015"/>
                  <a:pt x="1301610" y="1541730"/>
                  <a:pt x="1290761" y="1552579"/>
                </a:cubicBezTo>
                <a:cubicBezTo>
                  <a:pt x="1279912" y="1563428"/>
                  <a:pt x="1265197" y="1569523"/>
                  <a:pt x="1249854" y="1569523"/>
                </a:cubicBezTo>
                <a:lnTo>
                  <a:pt x="57851" y="1569523"/>
                </a:lnTo>
                <a:cubicBezTo>
                  <a:pt x="42508" y="1569523"/>
                  <a:pt x="27793" y="1563428"/>
                  <a:pt x="16944" y="1552579"/>
                </a:cubicBezTo>
                <a:cubicBezTo>
                  <a:pt x="6095" y="1541730"/>
                  <a:pt x="0" y="1527015"/>
                  <a:pt x="0" y="1511672"/>
                </a:cubicBezTo>
                <a:lnTo>
                  <a:pt x="0" y="57851"/>
                </a:lnTo>
                <a:cubicBezTo>
                  <a:pt x="0" y="42508"/>
                  <a:pt x="6095" y="27793"/>
                  <a:pt x="16944" y="16944"/>
                </a:cubicBezTo>
                <a:cubicBezTo>
                  <a:pt x="27793" y="6095"/>
                  <a:pt x="42508" y="0"/>
                  <a:pt x="57851" y="0"/>
                </a:cubicBezTo>
                <a:close/>
              </a:path>
            </a:pathLst>
          </a:custGeom>
          <a:solidFill>
            <a:srgbClr val="F4EDFB"/>
          </a:solidFill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2800" dirty="0"/>
              <a:t>No external exposure of sensitive data</a:t>
            </a:r>
          </a:p>
        </p:txBody>
      </p:sp>
    </p:spTree>
    <p:extLst>
      <p:ext uri="{BB962C8B-B14F-4D97-AF65-F5344CB8AC3E}">
        <p14:creationId xmlns:p14="http://schemas.microsoft.com/office/powerpoint/2010/main" val="167034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6341594" y="1534701"/>
            <a:ext cx="5481584" cy="955562"/>
            <a:chOff x="0" y="0"/>
            <a:chExt cx="1785490" cy="3112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64822" y="1691724"/>
            <a:ext cx="5481584" cy="955562"/>
            <a:chOff x="0" y="0"/>
            <a:chExt cx="1785490" cy="3112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052555" y="1803903"/>
            <a:ext cx="4182889" cy="655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835" dirty="0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CONCLUSION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252217"/>
            <a:ext cx="4586373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/>
              <a:t> An Najah University</a:t>
            </a:r>
            <a:endParaRPr lang="en-US" sz="3600" dirty="0"/>
          </a:p>
        </p:txBody>
      </p:sp>
      <p:sp>
        <p:nvSpPr>
          <p:cNvPr id="20" name="TextBox 20"/>
          <p:cNvSpPr txBox="1"/>
          <p:nvPr/>
        </p:nvSpPr>
        <p:spPr>
          <a:xfrm>
            <a:off x="3321886" y="3949144"/>
            <a:ext cx="11695077" cy="349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250000"/>
              </a:lnSpc>
            </a:pPr>
            <a:r>
              <a:rPr lang="en-US" sz="3200" dirty="0"/>
              <a:t>This project provides a scalable, secure, and fully automated distributed backup system that eliminates manual work and avoids dependency on a central server.</a:t>
            </a:r>
          </a:p>
        </p:txBody>
      </p:sp>
      <p:sp>
        <p:nvSpPr>
          <p:cNvPr id="21" name="Freeform 21"/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 rot="-54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3" name="صورة 22">
            <a:extLst>
              <a:ext uri="{FF2B5EF4-FFF2-40B4-BE49-F238E27FC236}">
                <a16:creationId xmlns:a16="http://schemas.microsoft.com/office/drawing/2014/main" id="{44309AE0-6B98-FB75-EB81-FDDD0DAB384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4" b="29873"/>
          <a:stretch>
            <a:fillRect/>
          </a:stretch>
        </p:blipFill>
        <p:spPr bwMode="auto">
          <a:xfrm rot="1925308">
            <a:off x="1910249" y="2969891"/>
            <a:ext cx="1570355" cy="11601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6341594" y="1534701"/>
            <a:ext cx="5481584" cy="955562"/>
            <a:chOff x="0" y="0"/>
            <a:chExt cx="1785490" cy="3112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64822" y="1691724"/>
            <a:ext cx="5481584" cy="955562"/>
            <a:chOff x="0" y="0"/>
            <a:chExt cx="1785490" cy="3112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052555" y="1803903"/>
            <a:ext cx="4182889" cy="655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835" dirty="0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RECOMMENDATION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252217"/>
            <a:ext cx="4586373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/>
              <a:t> An Najah University</a:t>
            </a:r>
            <a:endParaRPr lang="en-US" sz="4000" dirty="0">
              <a:effectLst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672927" y="9387387"/>
            <a:ext cx="4586373" cy="400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000000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20" name="Freeform 20"/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 rot="-54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2838978" y="3434613"/>
            <a:ext cx="12610044" cy="1980020"/>
            <a:chOff x="0" y="0"/>
            <a:chExt cx="4107409" cy="6449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107409" cy="644942"/>
            </a:xfrm>
            <a:custGeom>
              <a:avLst/>
              <a:gdLst/>
              <a:ahLst/>
              <a:cxnLst/>
              <a:rect l="l" t="t" r="r" b="b"/>
              <a:pathLst>
                <a:path w="4107409" h="644942">
                  <a:moveTo>
                    <a:pt x="18418" y="0"/>
                  </a:moveTo>
                  <a:lnTo>
                    <a:pt x="4088990" y="0"/>
                  </a:lnTo>
                  <a:cubicBezTo>
                    <a:pt x="4093875" y="0"/>
                    <a:pt x="4098560" y="1941"/>
                    <a:pt x="4102014" y="5395"/>
                  </a:cubicBezTo>
                  <a:cubicBezTo>
                    <a:pt x="4105468" y="8849"/>
                    <a:pt x="4107409" y="13534"/>
                    <a:pt x="4107409" y="18418"/>
                  </a:cubicBezTo>
                  <a:lnTo>
                    <a:pt x="4107409" y="626524"/>
                  </a:lnTo>
                  <a:cubicBezTo>
                    <a:pt x="4107409" y="631409"/>
                    <a:pt x="4105468" y="636094"/>
                    <a:pt x="4102014" y="639548"/>
                  </a:cubicBezTo>
                  <a:cubicBezTo>
                    <a:pt x="4098560" y="643002"/>
                    <a:pt x="4093875" y="644942"/>
                    <a:pt x="4088990" y="644942"/>
                  </a:cubicBezTo>
                  <a:lnTo>
                    <a:pt x="18418" y="644942"/>
                  </a:lnTo>
                  <a:cubicBezTo>
                    <a:pt x="13534" y="644942"/>
                    <a:pt x="8849" y="643002"/>
                    <a:pt x="5395" y="639548"/>
                  </a:cubicBezTo>
                  <a:cubicBezTo>
                    <a:pt x="1941" y="636094"/>
                    <a:pt x="0" y="631409"/>
                    <a:pt x="0" y="626524"/>
                  </a:cubicBezTo>
                  <a:lnTo>
                    <a:pt x="0" y="18418"/>
                  </a:lnTo>
                  <a:cubicBezTo>
                    <a:pt x="0" y="13534"/>
                    <a:pt x="1941" y="8849"/>
                    <a:pt x="5395" y="5395"/>
                  </a:cubicBezTo>
                  <a:cubicBezTo>
                    <a:pt x="8849" y="1941"/>
                    <a:pt x="13534" y="0"/>
                    <a:pt x="18418" y="0"/>
                  </a:cubicBezTo>
                  <a:close/>
                </a:path>
              </a:pathLst>
            </a:custGeom>
            <a:solidFill>
              <a:srgbClr val="F4ED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4107409" cy="721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838978" y="6028984"/>
            <a:ext cx="12610044" cy="1980020"/>
            <a:chOff x="0" y="0"/>
            <a:chExt cx="4107409" cy="6449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107409" cy="644942"/>
            </a:xfrm>
            <a:custGeom>
              <a:avLst/>
              <a:gdLst/>
              <a:ahLst/>
              <a:cxnLst/>
              <a:rect l="l" t="t" r="r" b="b"/>
              <a:pathLst>
                <a:path w="4107409" h="644942">
                  <a:moveTo>
                    <a:pt x="18418" y="0"/>
                  </a:moveTo>
                  <a:lnTo>
                    <a:pt x="4088990" y="0"/>
                  </a:lnTo>
                  <a:cubicBezTo>
                    <a:pt x="4093875" y="0"/>
                    <a:pt x="4098560" y="1941"/>
                    <a:pt x="4102014" y="5395"/>
                  </a:cubicBezTo>
                  <a:cubicBezTo>
                    <a:pt x="4105468" y="8849"/>
                    <a:pt x="4107409" y="13534"/>
                    <a:pt x="4107409" y="18418"/>
                  </a:cubicBezTo>
                  <a:lnTo>
                    <a:pt x="4107409" y="626524"/>
                  </a:lnTo>
                  <a:cubicBezTo>
                    <a:pt x="4107409" y="631409"/>
                    <a:pt x="4105468" y="636094"/>
                    <a:pt x="4102014" y="639548"/>
                  </a:cubicBezTo>
                  <a:cubicBezTo>
                    <a:pt x="4098560" y="643002"/>
                    <a:pt x="4093875" y="644942"/>
                    <a:pt x="4088990" y="644942"/>
                  </a:cubicBezTo>
                  <a:lnTo>
                    <a:pt x="18418" y="644942"/>
                  </a:lnTo>
                  <a:cubicBezTo>
                    <a:pt x="13534" y="644942"/>
                    <a:pt x="8849" y="643002"/>
                    <a:pt x="5395" y="639548"/>
                  </a:cubicBezTo>
                  <a:cubicBezTo>
                    <a:pt x="1941" y="636094"/>
                    <a:pt x="0" y="631409"/>
                    <a:pt x="0" y="626524"/>
                  </a:cubicBezTo>
                  <a:lnTo>
                    <a:pt x="0" y="18418"/>
                  </a:lnTo>
                  <a:cubicBezTo>
                    <a:pt x="0" y="13534"/>
                    <a:pt x="1941" y="8849"/>
                    <a:pt x="5395" y="5395"/>
                  </a:cubicBezTo>
                  <a:cubicBezTo>
                    <a:pt x="8849" y="1941"/>
                    <a:pt x="13534" y="0"/>
                    <a:pt x="18418" y="0"/>
                  </a:cubicBezTo>
                  <a:close/>
                </a:path>
              </a:pathLst>
            </a:custGeom>
            <a:solidFill>
              <a:srgbClr val="F4ED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76200"/>
              <a:ext cx="4107409" cy="721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183505" y="3892130"/>
            <a:ext cx="12093253" cy="579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Integrating cloud storage for additional backup reliability</a:t>
            </a:r>
            <a:r>
              <a:rPr lang="en-US" sz="2800" b="1" dirty="0"/>
              <a:t>.</a:t>
            </a:r>
            <a:endParaRPr lang="en-US" sz="2800" dirty="0"/>
          </a:p>
        </p:txBody>
      </p:sp>
      <p:sp>
        <p:nvSpPr>
          <p:cNvPr id="29" name="TextBox 29"/>
          <p:cNvSpPr txBox="1"/>
          <p:nvPr/>
        </p:nvSpPr>
        <p:spPr>
          <a:xfrm>
            <a:off x="3183505" y="6441812"/>
            <a:ext cx="12093253" cy="1225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A unified dashboard can be introduced to monitor all nodes from one interface, providing better control and system visibility.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3183505" y="2898480"/>
            <a:ext cx="7482871" cy="883697"/>
            <a:chOff x="0" y="-57150"/>
            <a:chExt cx="2129788" cy="26782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29788" cy="210675"/>
            </a:xfrm>
            <a:custGeom>
              <a:avLst/>
              <a:gdLst/>
              <a:ahLst/>
              <a:cxnLst/>
              <a:rect l="l" t="t" r="r" b="b"/>
              <a:pathLst>
                <a:path w="1092796" h="210675">
                  <a:moveTo>
                    <a:pt x="36501" y="0"/>
                  </a:moveTo>
                  <a:lnTo>
                    <a:pt x="1056295" y="0"/>
                  </a:lnTo>
                  <a:cubicBezTo>
                    <a:pt x="1065976" y="0"/>
                    <a:pt x="1075260" y="3846"/>
                    <a:pt x="1082105" y="10691"/>
                  </a:cubicBezTo>
                  <a:cubicBezTo>
                    <a:pt x="1088951" y="17536"/>
                    <a:pt x="1092796" y="26820"/>
                    <a:pt x="1092796" y="36501"/>
                  </a:cubicBezTo>
                  <a:lnTo>
                    <a:pt x="1092796" y="174174"/>
                  </a:lnTo>
                  <a:cubicBezTo>
                    <a:pt x="1092796" y="183855"/>
                    <a:pt x="1088951" y="193139"/>
                    <a:pt x="1082105" y="199984"/>
                  </a:cubicBezTo>
                  <a:cubicBezTo>
                    <a:pt x="1075260" y="206830"/>
                    <a:pt x="1065976" y="210675"/>
                    <a:pt x="1056295" y="210675"/>
                  </a:cubicBezTo>
                  <a:lnTo>
                    <a:pt x="36501" y="210675"/>
                  </a:lnTo>
                  <a:cubicBezTo>
                    <a:pt x="26820" y="210675"/>
                    <a:pt x="17536" y="206830"/>
                    <a:pt x="10691" y="199984"/>
                  </a:cubicBezTo>
                  <a:cubicBezTo>
                    <a:pt x="3846" y="193139"/>
                    <a:pt x="0" y="183855"/>
                    <a:pt x="0" y="174174"/>
                  </a:cubicBezTo>
                  <a:lnTo>
                    <a:pt x="0" y="36501"/>
                  </a:lnTo>
                  <a:cubicBezTo>
                    <a:pt x="0" y="26820"/>
                    <a:pt x="3846" y="17536"/>
                    <a:pt x="10691" y="10691"/>
                  </a:cubicBezTo>
                  <a:cubicBezTo>
                    <a:pt x="17536" y="3846"/>
                    <a:pt x="26820" y="0"/>
                    <a:pt x="36501" y="0"/>
                  </a:cubicBez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2129788" cy="26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82930" lvl="1" indent="-291465">
                <a:lnSpc>
                  <a:spcPts val="3779"/>
                </a:lnSpc>
                <a:buFont typeface="Arial"/>
                <a:buChar char="•"/>
              </a:pPr>
              <a:r>
                <a:rPr lang="en-US" sz="2800" dirty="0">
                  <a:latin typeface="Amasis MT Pro Black" panose="02040A04050005020304" pitchFamily="18" charset="0"/>
                </a:rPr>
                <a:t>Cloud Integration</a:t>
              </a:r>
              <a:endParaRPr lang="en-US" sz="2800" dirty="0">
                <a:latin typeface="Amasis MT Pro Black" panose="02040A04050005020304" pitchFamily="18" charset="0"/>
                <a:sym typeface="Norwester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971800" y="5492852"/>
            <a:ext cx="7941693" cy="883697"/>
            <a:chOff x="-39645" y="-57150"/>
            <a:chExt cx="1487206" cy="26782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447561" cy="210675"/>
            </a:xfrm>
            <a:custGeom>
              <a:avLst/>
              <a:gdLst/>
              <a:ahLst/>
              <a:cxnLst/>
              <a:rect l="l" t="t" r="r" b="b"/>
              <a:pathLst>
                <a:path w="1315971" h="210675">
                  <a:moveTo>
                    <a:pt x="30311" y="0"/>
                  </a:moveTo>
                  <a:lnTo>
                    <a:pt x="1285660" y="0"/>
                  </a:lnTo>
                  <a:cubicBezTo>
                    <a:pt x="1293699" y="0"/>
                    <a:pt x="1301409" y="3193"/>
                    <a:pt x="1307093" y="8878"/>
                  </a:cubicBezTo>
                  <a:cubicBezTo>
                    <a:pt x="1312777" y="14562"/>
                    <a:pt x="1315971" y="22272"/>
                    <a:pt x="1315971" y="30311"/>
                  </a:cubicBezTo>
                  <a:lnTo>
                    <a:pt x="1315971" y="180364"/>
                  </a:lnTo>
                  <a:cubicBezTo>
                    <a:pt x="1315971" y="197105"/>
                    <a:pt x="1302400" y="210675"/>
                    <a:pt x="1285660" y="210675"/>
                  </a:cubicBezTo>
                  <a:lnTo>
                    <a:pt x="30311" y="210675"/>
                  </a:lnTo>
                  <a:cubicBezTo>
                    <a:pt x="13571" y="210675"/>
                    <a:pt x="0" y="197105"/>
                    <a:pt x="0" y="180364"/>
                  </a:cubicBezTo>
                  <a:lnTo>
                    <a:pt x="0" y="30311"/>
                  </a:lnTo>
                  <a:cubicBezTo>
                    <a:pt x="0" y="13571"/>
                    <a:pt x="13571" y="0"/>
                    <a:pt x="30311" y="0"/>
                  </a:cubicBez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-39645" y="-57150"/>
              <a:ext cx="1487206" cy="26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82930" lvl="1" indent="-291465">
                <a:lnSpc>
                  <a:spcPts val="3779"/>
                </a:lnSpc>
                <a:buFont typeface="Arial"/>
                <a:buChar char="•"/>
              </a:pPr>
              <a:r>
                <a:rPr lang="en-US" sz="2800" dirty="0">
                  <a:latin typeface="Aharoni" panose="02010803020104030203" pitchFamily="2" charset="-79"/>
                  <a:cs typeface="Aharoni" panose="02010803020104030203" pitchFamily="2" charset="-79"/>
                </a:rPr>
                <a:t>Develop a Central Monitoring Dashboard</a:t>
              </a:r>
              <a:endParaRPr lang="en-US" sz="2700" dirty="0">
                <a:solidFill>
                  <a:srgbClr val="000000"/>
                </a:solidFill>
                <a:latin typeface="Aharoni" panose="02010803020104030203" pitchFamily="2" charset="-79"/>
                <a:ea typeface="Norwester"/>
                <a:cs typeface="Aharoni" panose="02010803020104030203" pitchFamily="2" charset="-79"/>
                <a:sym typeface="Norwes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0643118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400000">
            <a:off x="-2364519" y="57339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8" y="0"/>
                </a:lnTo>
                <a:lnTo>
                  <a:pt x="4729038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5923481" y="-24956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8" y="0"/>
                </a:lnTo>
                <a:lnTo>
                  <a:pt x="4729038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5400000">
            <a:off x="-3729024" y="16191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8" y="0"/>
                </a:lnTo>
                <a:lnTo>
                  <a:pt x="4729038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-5400000">
            <a:off x="17286547" y="16191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6123091" y="3007581"/>
            <a:ext cx="6041818" cy="3124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10"/>
              </a:lnSpc>
            </a:pPr>
            <a:r>
              <a:rPr lang="en-US" sz="12010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THANK YOU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755079" y="6132042"/>
            <a:ext cx="6779282" cy="1181779"/>
            <a:chOff x="0" y="0"/>
            <a:chExt cx="1785490" cy="3112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07479" y="6326239"/>
            <a:ext cx="6779282" cy="1181779"/>
            <a:chOff x="0" y="0"/>
            <a:chExt cx="1785490" cy="31125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429330" y="6585347"/>
            <a:ext cx="5735579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000" dirty="0"/>
              <a:t>Presented by </a:t>
            </a:r>
            <a:r>
              <a:rPr lang="en-US" sz="4000" dirty="0" err="1"/>
              <a:t>Sara&amp;Berlanti</a:t>
            </a:r>
            <a:endParaRPr lang="ar-SA" sz="4000" dirty="0"/>
          </a:p>
        </p:txBody>
      </p:sp>
      <p:sp>
        <p:nvSpPr>
          <p:cNvPr id="21" name="TextBox 21"/>
          <p:cNvSpPr txBox="1"/>
          <p:nvPr/>
        </p:nvSpPr>
        <p:spPr>
          <a:xfrm>
            <a:off x="6850813" y="1375337"/>
            <a:ext cx="4586373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3200" dirty="0"/>
              <a:t> An Najah University</a:t>
            </a:r>
            <a:endParaRPr lang="en-US" sz="4800" dirty="0">
              <a:effectLst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400800" y="8290955"/>
            <a:ext cx="5833782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Course: Computer Networks Project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700</Words>
  <Application>Microsoft Office PowerPoint</Application>
  <PresentationFormat>مخصص</PresentationFormat>
  <Paragraphs>122</Paragraphs>
  <Slides>19</Slides>
  <Notes>0</Notes>
  <HiddenSlides>1</HiddenSlides>
  <MMClips>0</MMClips>
  <ScaleCrop>false</ScaleCrop>
  <HeadingPairs>
    <vt:vector size="6" baseType="variant">
      <vt:variant>
        <vt:lpstr>الخطوط المستخدمة</vt:lpstr>
      </vt:variant>
      <vt:variant>
        <vt:i4>7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19</vt:i4>
      </vt:variant>
    </vt:vector>
  </HeadingPairs>
  <TitlesOfParts>
    <vt:vector size="27" baseType="lpstr">
      <vt:lpstr>Alegreya Sans</vt:lpstr>
      <vt:lpstr>Calibri</vt:lpstr>
      <vt:lpstr>Aharoni</vt:lpstr>
      <vt:lpstr>Norwester</vt:lpstr>
      <vt:lpstr>Arial</vt:lpstr>
      <vt:lpstr>Amasis MT Pro Black</vt:lpstr>
      <vt:lpstr>Wingdings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Automated Backup System</dc:title>
  <cp:lastModifiedBy>sara othman</cp:lastModifiedBy>
  <cp:revision>8</cp:revision>
  <dcterms:created xsi:type="dcterms:W3CDTF">2006-08-16T00:00:00Z</dcterms:created>
  <dcterms:modified xsi:type="dcterms:W3CDTF">2026-04-15T12:19:09Z</dcterms:modified>
  <dc:identifier>DAHGq330EjE</dc:identifier>
</cp:coreProperties>
</file>